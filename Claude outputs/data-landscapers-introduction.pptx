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6581396-0193-7912-3554-af31d4f3d19d}">
          <p14:sldIdLst>
            <p14:sldId id="256"/>
            <p14:sldId id="257"/>
          </p14:sldIdLst>
        </p14:section>
        <p14:section name="The system" id="{8cdb331f-4bea-d6fb-b4aa-c0cd3c04f991}">
          <p14:sldIdLst>
            <p14:sldId id="258"/>
            <p14:sldId id="259"/>
            <p14:sldId id="260"/>
            <p14:sldId id="261"/>
          </p14:sldIdLst>
        </p14:section>
        <p14:section name="Keeping it right" id="{19180a1a-d555-ee3c-52dc-22357b378d1d}">
          <p14:sldIdLst>
            <p14:sldId id="262"/>
            <p14:sldId id="263"/>
          </p14:sldIdLst>
        </p14:section>
        <p14:section name="The team" id="{a1418991-360d-14ed-2d5e-1cc6e3e715c2}">
          <p14:sldIdLst>
            <p14:sldId id="264"/>
            <p14:sldId id="265"/>
            <p14:sldId id="266"/>
          </p14:sldIdLst>
        </p14:section>
        <p14:section name="Looking ahead" id="{18452d4e-e03a-55d4-153c-16ca82688eda}">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Introductory deck for a mixed audience. The slides are in plain language; the technical specifics (file names, scripts, counts) are in these notes. Figures are dated where they change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Corpus (corpus.data-landscapers.io) publishes country, region and topic reports, a progress tracker, finance datasets, a daily bulletin and a catalogue of every source. Counts: raw_sources 26,435 from the collection manifest of 4 October 2026; 11,431 All finance rows and 10,960 budget lines over 52 countries from strategic review 6 (1 October 2026); 10 categories and 36 topics, 54 countries and 8 region codes from the published process inventory. The indicator frame is cited as 121 in the process inventory and 123 in the README, hence 'more than 120'. Everything public is licensed CC BY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 is the search API the sweeps call (a domain-scoped, date-bounded search for the daily list; Exa's deep research agent for the open web). The cycle runs an Exa canary first and skips the Exa-dependent sweeps if the service is down. OSINT is a private git repository holding raw/ (verbatim source text), wiki/ (compiled pages) and lookups/ (vocabularies). C:\OSINT on the publishing machine is a read-only mirror refreshed when a cycle closes; cycle-manifest.json is the account of each run. Corpus reads the mirror and never writes to it. The share (C:\CORPUS-OSINT-XFER) is its own git repository: notes in both directions, prepared/ for patches and scripts, new-queue/ for documents handed to collection, and the two housekeeping registers. The site is static: pages on a page host, dated editions and search indexes in a file store (Cloudflare R2), nothing generated at request time. data-landscapers.io carries the writing and is upstream of Corpus for the shared front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SWEEP-CYCLE.md orchestrates a run: it picks the least-recently-run day from a rotation and runs that day's sweeps, then ingest, then the checks, committing at each boundary. Sweeps: SWEEP-DAILY-LIST (trade journals; RSS, listing page and Exa search in union, with a 24-hour overlap), SWEEP-DAILY-OFFLIST (Exa deep agent, Africa-scoped and worldwide tracks), SWEEP-NEWSPAPERS / -JOURNALS / -THINKTANKS, SWEEP-FINANCIERS and SWEEP-IATI, SWEEP-COUNTRY-DEEP and SWEEP-REGIONAL, and SWEEP-BULLETIN as a late-morning top-up. Budget documents are collected separately (BUDGET-COLLECT). wiki/origin-screen.md refuses hostile origins on the registrable domain; wiki/capture-rule.md requires the verbatim body. Night of 4 October 2026 from cycle-manifest.json: screened 1,161, screen_dropped 1,025, items_in 138, admitted 76, dropped 61. The cycle is currently started by hand and is due to be automated. Source lists live on the public Lookups page and can change without touching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INGEST.md (Phase A) is the only door into raw/. The four dispositions are admitted, contradiction brief (reviews/contradictions/, drained by RECONCILE.md), acquisition line (drained by ACQUIRE.md, one automated attempt each) and deleted. De-duplication runs against an index of every URL held (scripts/raw-url-index.py), then sources of similar date, place or actor, then one judgement on titles and ledes; sources that disagree about one event are never duplicates. Classification is three facets in the document's own frontmatter: place (countries.csv), topic (taxonomy.md) and entities; a value outside a vocabulary is rejected. The five-fact test is wiki/finance-record-spec.md: a named financier, an identified recipient, an amount that is a commitment or disbursement (never an 'up to' or a target), the date of the commitment and a classifiable purpose. Budget documents take a separate route for structured extraction, recorded by budget stage. Compiled pages (place hubs, topic pages, place-by-topic intersections) are then rebuilt from the sources by HUB-COMPILE, WIKI-SYNC and FINANCE-COMPILE; they are derived views, never written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CYCLE.md: scripts/osint-cycle-ready.py detects a closed collection cycle with no build since and runs build and render as one job, opening with the notes queue. scripts/rebuild.py --all recompiles the catalogue, the non-state finance dataset, the budget tables and the vocabulary snapshot. BUILD.md stage 4 / REPORT-UPDATE.md reads each unconsidered source against the country's ledger with four outcomes: a row moves, a row is minted, a 'Not held' row is settled, or nothing moves. Positions map into a fixed frame of indicators asked of every country; an unanswered indicator renders 'No evidence'. Pre-typeset checks: scripts/report-render.py --check, report-register-check.py, status-check.py. RENDER.md / scripts/render.py digests each document body and mints an edition only on change; a second edition in a day takes a -2 suffix and the first is never renamed, because a citation may rest on it. Dated files are moved to the file store (scripts/r2-sync.py) in the order upload, serve, verify, delete. Deploy checks outbound links, commits and pushes; running the render is the instruction to publish.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1: the scope rule has two halves, subject (data governance and digital transformation) and place (an African place, the global south generally, or geopolitics bearing on Africa); wiki/origin-screen.md and INGEST.md apply it. Layer 2: OSINT's LINT.md holds around thirty checks, incremental over each run's new records and whole-corpus at the close; Corpus runs its own (lint-osint-freshness, lint-interface, lint-scope, lint-shared-assets, lint-notes, lint-docs) plus the pre-typeset checks. An unsourceable position becomes 'Not held' with a line in the gap file. Layer 3: RECONCILE.md researches every open contradiction for the primary (gazette, regulator's bulletin, filing, court record), one attempt each; a third value settles nothing and is recorded as a live conflict. Layer 4: UNIT-REVIEW.md with scripts/unit-review.py and a rotation file; strategic review 6 measured 6.3 status sections revised per review over 29 units against a target of under 2. Layer 5: editions under documentation/design.md section 9; content/changelog.md publishes at /methodology/changelog/. Measured weakness, stated plainly: the ingest drop rate ran at 33 to 51 per cent over five nights against a target of under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Housekeeping: two registers on the share, osint-housekeeping.md and corpus-housekeeping.md. OSINT works one job at every night's close (BACKLOG.md); Corpus works the oldest open job after a build, or on 'run housekeeping'. Each job carries a Cause: clause and a finish line and fits one session; a counter at the head issues the numbers, and a finished job is deleted in the commit that finishes it. PRUNE.md holds every retention rule. Strategic reviews live in the share's strategic-reviews/ folder: a repository review on 24 July 2026, then 2 August, 27 August, 17 September, 25 September and 1 October (review 6). Each review has a companion register (R-numbered lines owned by BILL, CORPUS or OSINT) and, since review 4, written comments from each side with a Response line on every comment. Rules: RULES.md is the last stage of the night; a run that meets an edge case takes the conservative option and drops one candidate line, which becomes a rule after three separate runs. Document caps (scripts/lint-docs.py): a runbook 1,500 words, a spec 3,000, a message to Bill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actors: Bill, two Cowork sessions and two Claude Code agents. Claude Code on the private machine runs OSINT (sweeps, ingest, lint, reconcile, housekeeping) and is the only writer to OSINT's master branch. Claude Code on the publishing machine runs Corpus (build, render, deploy) and does the committing in the share for both sides. Cowork is where design happens: site design, specifications, graphics and the strategic reviews. Cowork cannot push to GitHub from its sandbox, so a Cowork session ends by naming its unpushed commits. The rules every session works under are in one file, documentation/global-claude.md in Corpus, which overrides each project's own CLAUDE.md.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1: global-claude.md, Division of labour: whenever Cowork makes changes Bill asks Claude Code to review them operationally; the result is a note for Cowork, comments posted back, or Claude Code amending the work. Loop 2: each side reads the other's evidence and nothing else of it. Notes cross in notes-for-osint.md and notes-for-corpus.md, tagged [CRITICAL], [ACT] or [FYI], each with an Affects: line naming the output it bears on. Corpus prepares changes to OSINT's repository as git patches (scripts/osint-patch.py) or a script with its input; OSINT runs its own containment check (assert-containment.py), applies, lints and commits, so the master branch has one writer. A patch may carry scripts, lookups and the wiki index pages and nothing else. Loop 3: for strategic review 4 onwards each Claude Code agent wrote comments checked from inside its own working tree, including the half of the evidence the other side cannot see; each comment has a Response line: accept, reject with the reason, or amend the task list. Loop 4: everything is in git, so a wrong call is a revert. messages-for-bill.md is capped at five open blocks of at most 80 words; at the cap an agent takes the conservative option and logs it. Escalation is reserved for evidence loss with no backup, a published falsehood, a leak of source text, legal exposure, or a reissued identifier under a live 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drawn from the three CLAUDE.md files and the share's README. Related rules worth mentioning: no new rule without deleting one; anything not touched in a month is deleted, not archived; every time-varying figure is written with its date; the event date is not the publication date; and a queue is only a queue if something reads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review 6 (1 October 2026) asked whether the architecture is right for the next year. Findings: 25,732 sources then, growing by 73 a night over five nights (about 2,200 a month), so about 52,000 in a year; 10,960 budget lines across 52 countries and three fiscal years; files and git as the store of record hold, and a database would be a second store to keep in step; the table component that draws the datasets is the reader-facing constraint; and the dated editions in the file store have a single copy and should have two. Budget figures are recorded at five stages: proposed, appropriated, released, executed,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the document lifecycle and the full process inventory are published at corpus.data-landscapers.io/methodology/. The collection side's procedures are exported nightly to github.com/data-landscapers/osint-process and the publishing side is at github.com/data-landscapers/corpus. Partners working on a country, a sector or a set of indicators are the most direct way to deepen that part of the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A1A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1005840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657600"/>
            <a:ext cx="8778240" cy="118872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9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Data Landscapers  ·  How the evidence base is built</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txBox="1"/>
          <p:nvPr/>
        </p:nvSpPr>
        <p:spPr>
          <a:xfrm>
            <a:off x="548640" y="1600200"/>
            <a:ext cx="5486400" cy="237744"/>
          </a:xfrm>
          <a:prstGeom prst="rect">
            <a:avLst/>
          </a:prstGeom>
          <a:noFill/>
          <a:ln/>
        </p:spPr>
        <p:txBody>
          <a:bodyPr wrap="square" lIns="0" tIns="0" rIns="0" bIns="0" rtlCol="0" anchor="t"/>
          <a:lstStyle/>
          <a:p>
            <a:pPr algn="l" indent="0" marL="0">
              <a:buNone/>
            </a:pPr>
            <a:r>
              <a:rPr lang="en-US" sz="1400" b="1" spc="150" kern="0" dirty="0">
                <a:solidFill>
                  <a:schemeClr val="accent1"/>
                </a:solidFill>
              </a:rPr>
              <a:t>DATA LANDSCAPERS</a:t>
            </a:r>
            <a:endParaRPr lang="en-US" sz="1400" dirty="0"/>
          </a:p>
        </p:txBody>
      </p:sp>
      <p:sp>
        <p:nvSpPr>
          <p:cNvPr id="3" name="Text 0"/>
          <p:cNvSpPr/>
          <p:nvPr>
            <p:ph idx="100" type="title" hasCustomPrompt="1"/>
          </p:nvPr>
        </p:nvSpPr>
        <p:spPr>
          <a:xfrm>
            <a:off x="548640" y="2148840"/>
            <a:ext cx="10058400" cy="1371600"/>
          </a:xfrm>
          <a:prstGeom prst="rect">
            <a:avLst/>
          </a:prstGeom>
          <a:noFill/>
          <a:ln/>
        </p:spPr>
        <p:txBody>
          <a:bodyPr wrap="square" lIns="0" tIns="0" rIns="0" bIns="0" rtlCol="0" anchor="t"/>
          <a:lstStyle/>
          <a:p>
            <a:pPr algn="l" indent="0" marL="0">
              <a:buNone/>
            </a:pPr>
            <a:r>
              <a:rPr lang="en-US" sz="4800" b="1" dirty="0">
                <a:solidFill>
                  <a:schemeClr val="bg1"/>
                </a:solidFill>
              </a:rPr>
              <a:t>How the evidence base is built</a:t>
            </a:r>
            <a:endParaRPr lang="en-US" sz="4800" dirty="0"/>
          </a:p>
        </p:txBody>
      </p:sp>
      <p:sp>
        <p:nvSpPr>
          <p:cNvPr id="4" name="Text 0"/>
          <p:cNvSpPr/>
          <p:nvPr>
            <p:ph idx="101" type="body" hasCustomPrompt="1"/>
          </p:nvPr>
        </p:nvSpPr>
        <p:spPr>
          <a:xfrm>
            <a:off x="548640" y="3657600"/>
            <a:ext cx="8778240" cy="1188720"/>
          </a:xfrm>
          <a:prstGeom prst="rect">
            <a:avLst/>
          </a:prstGeom>
          <a:noFill/>
          <a:ln/>
        </p:spPr>
        <p:txBody>
          <a:bodyPr wrap="square" lIns="0" tIns="0" rIns="0" bIns="0" rtlCol="0" anchor="t"/>
          <a:lstStyle/>
          <a:p>
            <a:pPr algn="l" indent="0" marL="0">
              <a:buNone/>
            </a:pPr>
            <a:r>
              <a:rPr lang="en-US" sz="2000" dirty="0">
                <a:solidFill>
                  <a:schemeClr val="accent6"/>
                </a:solidFill>
              </a:rPr>
              <a:t>An introduction to OSINT, Corpus and the team of one person and four AI agents that runs them</a:t>
            </a:r>
            <a:endParaRPr lang="en-US" sz="2000" dirty="0"/>
          </a:p>
        </p:txBody>
      </p:sp>
      <p:sp>
        <p:nvSpPr>
          <p:cNvPr id="5" name="Text 2"/>
          <p:cNvSpPr txBox="1"/>
          <p:nvPr/>
        </p:nvSpPr>
        <p:spPr>
          <a:xfrm>
            <a:off x="548640" y="6035040"/>
            <a:ext cx="3657600" cy="274320"/>
          </a:xfrm>
          <a:prstGeom prst="rect">
            <a:avLst/>
          </a:prstGeom>
          <a:noFill/>
          <a:ln/>
        </p:spPr>
        <p:txBody>
          <a:bodyPr wrap="square" lIns="0" tIns="0" rIns="0" bIns="0" rtlCol="0" anchor="t"/>
          <a:lstStyle/>
          <a:p>
            <a:pPr algn="l" indent="0" marL="0">
              <a:buNone/>
            </a:pPr>
            <a:r>
              <a:rPr lang="en-US" sz="1200" dirty="0">
                <a:solidFill>
                  <a:schemeClr val="accent5"/>
                </a:solidFill>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A public evidence base, rebuilt every night</a:t>
            </a:r>
            <a:endParaRPr lang="en-US" sz="3400" dirty="0"/>
          </a:p>
        </p:txBody>
      </p:sp>
      <p:sp>
        <p:nvSpPr>
          <p:cNvPr id="3" name="Card 3"/>
          <p:cNvSpPr/>
          <p:nvPr/>
        </p:nvSpPr>
        <p:spPr>
          <a:xfrm>
            <a:off x="548640" y="1508760"/>
            <a:ext cx="2633472" cy="2377440"/>
          </a:xfrm>
          <a:prstGeom prst="roundRect">
            <a:avLst>
              <a:gd name="adj" fmla="val 3077"/>
            </a:avLst>
          </a:prstGeom>
          <a:solidFill>
            <a:schemeClr val="bg2"/>
          </a:solidFill>
          <a:ln w="6350">
            <a:solidFill>
              <a:schemeClr val="bg2"/>
            </a:solidFill>
            <a:prstDash val="solid"/>
          </a:ln>
        </p:spPr>
      </p:sp>
      <p:sp>
        <p:nvSpPr>
          <p:cNvPr id="4" name="Text 4"/>
          <p:cNvSpPr txBox="1"/>
          <p:nvPr/>
        </p:nvSpPr>
        <p:spPr>
          <a:xfrm>
            <a:off x="777240" y="1691640"/>
            <a:ext cx="2176272" cy="822960"/>
          </a:xfrm>
          <a:prstGeom prst="rect">
            <a:avLst/>
          </a:prstGeom>
          <a:noFill/>
          <a:ln/>
        </p:spPr>
        <p:txBody>
          <a:bodyPr wrap="square" lIns="0" tIns="0" rIns="0" bIns="0" rtlCol="0" anchor="ctr"/>
          <a:lstStyle/>
          <a:p>
            <a:pPr algn="l" indent="0" marL="0">
              <a:buNone/>
            </a:pPr>
            <a:r>
              <a:rPr lang="en-US" sz="4600" b="1" dirty="0">
                <a:solidFill>
                  <a:schemeClr val="accent1"/>
                </a:solidFill>
              </a:rPr>
              <a:t>54</a:t>
            </a:r>
            <a:endParaRPr lang="en-US" sz="4600" dirty="0"/>
          </a:p>
        </p:txBody>
      </p:sp>
      <p:sp>
        <p:nvSpPr>
          <p:cNvPr id="5" name="Text 5"/>
          <p:cNvSpPr txBox="1"/>
          <p:nvPr/>
        </p:nvSpPr>
        <p:spPr>
          <a:xfrm>
            <a:off x="777240" y="2606040"/>
            <a:ext cx="2176272" cy="1143000"/>
          </a:xfrm>
          <a:prstGeom prst="rect">
            <a:avLst/>
          </a:prstGeom>
          <a:noFill/>
          <a:ln/>
        </p:spPr>
        <p:txBody>
          <a:bodyPr wrap="square" lIns="0" tIns="0" rIns="0" bIns="0" rtlCol="0" anchor="t"/>
          <a:lstStyle/>
          <a:p>
            <a:pPr algn="l" indent="0" marL="0">
              <a:buNone/>
            </a:pPr>
            <a:r>
              <a:rPr lang="en-US" sz="1500" dirty="0">
                <a:solidFill>
                  <a:schemeClr val="tx1"/>
                </a:solidFill>
              </a:rPr>
              <a:t>African countries, each with status, monthly, progress and finance reports</a:t>
            </a:r>
            <a:endParaRPr lang="en-US" sz="1500" dirty="0"/>
          </a:p>
        </p:txBody>
      </p:sp>
      <p:sp>
        <p:nvSpPr>
          <p:cNvPr id="6" name="Card 6"/>
          <p:cNvSpPr/>
          <p:nvPr/>
        </p:nvSpPr>
        <p:spPr>
          <a:xfrm>
            <a:off x="3364992" y="1508760"/>
            <a:ext cx="2633472" cy="2377440"/>
          </a:xfrm>
          <a:prstGeom prst="roundRect">
            <a:avLst>
              <a:gd name="adj" fmla="val 3077"/>
            </a:avLst>
          </a:prstGeom>
          <a:solidFill>
            <a:schemeClr val="bg2"/>
          </a:solidFill>
          <a:ln w="6350">
            <a:solidFill>
              <a:schemeClr val="bg2"/>
            </a:solidFill>
            <a:prstDash val="solid"/>
          </a:ln>
        </p:spPr>
      </p:sp>
      <p:sp>
        <p:nvSpPr>
          <p:cNvPr id="7" name="Text 7"/>
          <p:cNvSpPr txBox="1"/>
          <p:nvPr/>
        </p:nvSpPr>
        <p:spPr>
          <a:xfrm>
            <a:off x="3593592" y="1691640"/>
            <a:ext cx="2176272" cy="822960"/>
          </a:xfrm>
          <a:prstGeom prst="rect">
            <a:avLst/>
          </a:prstGeom>
          <a:noFill/>
          <a:ln/>
        </p:spPr>
        <p:txBody>
          <a:bodyPr wrap="square" lIns="0" tIns="0" rIns="0" bIns="0" rtlCol="0" anchor="ctr"/>
          <a:lstStyle/>
          <a:p>
            <a:pPr algn="l" indent="0" marL="0">
              <a:buNone/>
            </a:pPr>
            <a:r>
              <a:rPr lang="en-US" sz="4600" b="1" dirty="0">
                <a:solidFill>
                  <a:schemeClr val="accent1"/>
                </a:solidFill>
              </a:rPr>
              <a:t>26,435</a:t>
            </a:r>
            <a:endParaRPr lang="en-US" sz="4600" dirty="0"/>
          </a:p>
        </p:txBody>
      </p:sp>
      <p:sp>
        <p:nvSpPr>
          <p:cNvPr id="8" name="Text 8"/>
          <p:cNvSpPr txBox="1"/>
          <p:nvPr/>
        </p:nvSpPr>
        <p:spPr>
          <a:xfrm>
            <a:off x="3593592" y="2606040"/>
            <a:ext cx="2176272" cy="1143000"/>
          </a:xfrm>
          <a:prstGeom prst="rect">
            <a:avLst/>
          </a:prstGeom>
          <a:noFill/>
          <a:ln/>
        </p:spPr>
        <p:txBody>
          <a:bodyPr wrap="square" lIns="0" tIns="0" rIns="0" bIns="0" rtlCol="0" anchor="t"/>
          <a:lstStyle/>
          <a:p>
            <a:pPr algn="l" indent="0" marL="0">
              <a:buNone/>
            </a:pPr>
            <a:r>
              <a:rPr lang="en-US" sz="1500" dirty="0">
                <a:solidFill>
                  <a:schemeClr val="tx1"/>
                </a:solidFill>
              </a:rPr>
              <a:t>source documents held, every one traceable in the public catalogue</a:t>
            </a:r>
            <a:endParaRPr lang="en-US" sz="1500" dirty="0"/>
          </a:p>
        </p:txBody>
      </p:sp>
      <p:sp>
        <p:nvSpPr>
          <p:cNvPr id="9" name="Card 9"/>
          <p:cNvSpPr/>
          <p:nvPr/>
        </p:nvSpPr>
        <p:spPr>
          <a:xfrm>
            <a:off x="6181344" y="1508760"/>
            <a:ext cx="2633472" cy="2377440"/>
          </a:xfrm>
          <a:prstGeom prst="roundRect">
            <a:avLst>
              <a:gd name="adj" fmla="val 3077"/>
            </a:avLst>
          </a:prstGeom>
          <a:solidFill>
            <a:schemeClr val="bg2"/>
          </a:solidFill>
          <a:ln w="6350">
            <a:solidFill>
              <a:schemeClr val="bg2"/>
            </a:solidFill>
            <a:prstDash val="solid"/>
          </a:ln>
        </p:spPr>
      </p:sp>
      <p:sp>
        <p:nvSpPr>
          <p:cNvPr id="10" name="Text 10"/>
          <p:cNvSpPr txBox="1"/>
          <p:nvPr/>
        </p:nvSpPr>
        <p:spPr>
          <a:xfrm>
            <a:off x="6409944" y="1691640"/>
            <a:ext cx="2176272" cy="822960"/>
          </a:xfrm>
          <a:prstGeom prst="rect">
            <a:avLst/>
          </a:prstGeom>
          <a:noFill/>
          <a:ln/>
        </p:spPr>
        <p:txBody>
          <a:bodyPr wrap="square" lIns="0" tIns="0" rIns="0" bIns="0" rtlCol="0" anchor="ctr"/>
          <a:lstStyle/>
          <a:p>
            <a:pPr algn="l" indent="0" marL="0">
              <a:buNone/>
            </a:pPr>
            <a:r>
              <a:rPr lang="en-US" sz="4600" b="1" dirty="0">
                <a:solidFill>
                  <a:schemeClr val="accent1"/>
                </a:solidFill>
              </a:rPr>
              <a:t>36</a:t>
            </a:r>
            <a:endParaRPr lang="en-US" sz="4600" dirty="0"/>
          </a:p>
        </p:txBody>
      </p:sp>
      <p:sp>
        <p:nvSpPr>
          <p:cNvPr id="11" name="Text 11"/>
          <p:cNvSpPr txBox="1"/>
          <p:nvPr/>
        </p:nvSpPr>
        <p:spPr>
          <a:xfrm>
            <a:off x="6409944" y="2606040"/>
            <a:ext cx="2176272" cy="1143000"/>
          </a:xfrm>
          <a:prstGeom prst="rect">
            <a:avLst/>
          </a:prstGeom>
          <a:noFill/>
          <a:ln/>
        </p:spPr>
        <p:txBody>
          <a:bodyPr wrap="square" lIns="0" tIns="0" rIns="0" bIns="0" rtlCol="0" anchor="t"/>
          <a:lstStyle/>
          <a:p>
            <a:pPr algn="l" indent="0" marL="0">
              <a:buNone/>
            </a:pPr>
            <a:r>
              <a:rPr lang="en-US" sz="1500" dirty="0">
                <a:solidFill>
                  <a:schemeClr val="tx1"/>
                </a:solidFill>
              </a:rPr>
              <a:t>topics in a two-tier taxonomy, and more than 120 indicators of progress</a:t>
            </a:r>
            <a:endParaRPr lang="en-US" sz="1500" dirty="0"/>
          </a:p>
        </p:txBody>
      </p:sp>
      <p:sp>
        <p:nvSpPr>
          <p:cNvPr id="12" name="Card 12"/>
          <p:cNvSpPr/>
          <p:nvPr/>
        </p:nvSpPr>
        <p:spPr>
          <a:xfrm>
            <a:off x="8997696" y="1508760"/>
            <a:ext cx="2633472" cy="2377440"/>
          </a:xfrm>
          <a:prstGeom prst="roundRect">
            <a:avLst>
              <a:gd name="adj" fmla="val 3077"/>
            </a:avLst>
          </a:prstGeom>
          <a:solidFill>
            <a:schemeClr val="bg2"/>
          </a:solidFill>
          <a:ln w="6350">
            <a:solidFill>
              <a:schemeClr val="bg2"/>
            </a:solidFill>
            <a:prstDash val="solid"/>
          </a:ln>
        </p:spPr>
      </p:sp>
      <p:sp>
        <p:nvSpPr>
          <p:cNvPr id="13" name="Text 13"/>
          <p:cNvSpPr txBox="1"/>
          <p:nvPr/>
        </p:nvSpPr>
        <p:spPr>
          <a:xfrm>
            <a:off x="9226296" y="1691640"/>
            <a:ext cx="2176272" cy="822960"/>
          </a:xfrm>
          <a:prstGeom prst="rect">
            <a:avLst/>
          </a:prstGeom>
          <a:noFill/>
          <a:ln/>
        </p:spPr>
        <p:txBody>
          <a:bodyPr wrap="square" lIns="0" tIns="0" rIns="0" bIns="0" rtlCol="0" anchor="ctr"/>
          <a:lstStyle/>
          <a:p>
            <a:pPr algn="l" indent="0" marL="0">
              <a:buNone/>
            </a:pPr>
            <a:r>
              <a:rPr lang="en-US" sz="4600" b="1" dirty="0">
                <a:solidFill>
                  <a:schemeClr val="accent1"/>
                </a:solidFill>
              </a:rPr>
              <a:t>11,431</a:t>
            </a:r>
            <a:endParaRPr lang="en-US" sz="4600" dirty="0"/>
          </a:p>
        </p:txBody>
      </p:sp>
      <p:sp>
        <p:nvSpPr>
          <p:cNvPr id="14" name="Text 14"/>
          <p:cNvSpPr txBox="1"/>
          <p:nvPr/>
        </p:nvSpPr>
        <p:spPr>
          <a:xfrm>
            <a:off x="9226296" y="2606040"/>
            <a:ext cx="2176272" cy="1143000"/>
          </a:xfrm>
          <a:prstGeom prst="rect">
            <a:avLst/>
          </a:prstGeom>
          <a:noFill/>
          <a:ln/>
        </p:spPr>
        <p:txBody>
          <a:bodyPr wrap="square" lIns="0" tIns="0" rIns="0" bIns="0" rtlCol="0" anchor="t"/>
          <a:lstStyle/>
          <a:p>
            <a:pPr algn="l" indent="0" marL="0">
              <a:buNone/>
            </a:pPr>
            <a:r>
              <a:rPr lang="en-US" sz="1500" dirty="0">
                <a:solidFill>
                  <a:schemeClr val="tx1"/>
                </a:solidFill>
              </a:rPr>
              <a:t>rows of aid, national budget and other finance joined in one table</a:t>
            </a:r>
            <a:endParaRPr lang="en-US" sz="1500" dirty="0"/>
          </a:p>
        </p:txBody>
      </p:sp>
      <p:sp>
        <p:nvSpPr>
          <p:cNvPr id="15" name="Text 15"/>
          <p:cNvSpPr txBox="1"/>
          <p:nvPr/>
        </p:nvSpPr>
        <p:spPr>
          <a:xfrm>
            <a:off x="548640" y="3995928"/>
            <a:ext cx="11091672" cy="274320"/>
          </a:xfrm>
          <a:prstGeom prst="rect">
            <a:avLst/>
          </a:prstGeom>
          <a:noFill/>
          <a:ln/>
        </p:spPr>
        <p:txBody>
          <a:bodyPr wrap="square" lIns="0" tIns="0" rIns="0" bIns="0" rtlCol="0" anchor="t"/>
          <a:lstStyle/>
          <a:p>
            <a:pPr algn="l" indent="0" marL="0">
              <a:buNone/>
            </a:pPr>
            <a:r>
              <a:rPr lang="en-US" sz="1100" dirty="0">
                <a:solidFill>
                  <a:schemeClr val="accent5"/>
                </a:solidFill>
              </a:rPr>
              <a:t>Sources held at 4 October 2026; finance rows at 1 October 2026.</a:t>
            </a:r>
            <a:endParaRPr lang="en-US" sz="1100" dirty="0"/>
          </a:p>
        </p:txBody>
      </p:sp>
      <p:sp>
        <p:nvSpPr>
          <p:cNvPr id="16" name="Card 16"/>
          <p:cNvSpPr/>
          <p:nvPr/>
        </p:nvSpPr>
        <p:spPr>
          <a:xfrm>
            <a:off x="548640" y="4663440"/>
            <a:ext cx="3575304" cy="914400"/>
          </a:xfrm>
          <a:prstGeom prst="roundRect">
            <a:avLst>
              <a:gd name="adj" fmla="val 8000"/>
            </a:avLst>
          </a:prstGeom>
          <a:solidFill>
            <a:schemeClr val="tx1"/>
          </a:solidFill>
          <a:ln w="6350">
            <a:solidFill>
              <a:schemeClr val="tx1"/>
            </a:solidFill>
            <a:prstDash val="solid"/>
          </a:ln>
        </p:spPr>
      </p:sp>
      <p:sp>
        <p:nvSpPr>
          <p:cNvPr id="17" name="Text 17"/>
          <p:cNvSpPr txBox="1"/>
          <p:nvPr/>
        </p:nvSpPr>
        <p:spPr>
          <a:xfrm>
            <a:off x="777240" y="4663440"/>
            <a:ext cx="3118104" cy="914400"/>
          </a:xfrm>
          <a:prstGeom prst="rect">
            <a:avLst/>
          </a:prstGeom>
          <a:noFill/>
          <a:ln/>
        </p:spPr>
        <p:txBody>
          <a:bodyPr wrap="square" lIns="0" tIns="0" rIns="0" bIns="0" rtlCol="0" anchor="ctr"/>
          <a:lstStyle/>
          <a:p>
            <a:pPr algn="l" indent="0" marL="0">
              <a:buNone/>
            </a:pPr>
            <a:r>
              <a:rPr lang="en-US" sz="1700" b="1" dirty="0">
                <a:solidFill>
                  <a:schemeClr val="bg1"/>
                </a:solidFill>
              </a:rPr>
              <a:t>Only primary sources are admitted</a:t>
            </a:r>
            <a:endParaRPr lang="en-US" sz="1700" dirty="0"/>
          </a:p>
        </p:txBody>
      </p:sp>
      <p:sp>
        <p:nvSpPr>
          <p:cNvPr id="18" name="Card 18"/>
          <p:cNvSpPr/>
          <p:nvPr/>
        </p:nvSpPr>
        <p:spPr>
          <a:xfrm>
            <a:off x="4306824" y="4663440"/>
            <a:ext cx="3575304" cy="914400"/>
          </a:xfrm>
          <a:prstGeom prst="roundRect">
            <a:avLst>
              <a:gd name="adj" fmla="val 8000"/>
            </a:avLst>
          </a:prstGeom>
          <a:solidFill>
            <a:schemeClr val="tx1"/>
          </a:solidFill>
          <a:ln w="6350">
            <a:solidFill>
              <a:schemeClr val="tx1"/>
            </a:solidFill>
            <a:prstDash val="solid"/>
          </a:ln>
        </p:spPr>
      </p:sp>
      <p:sp>
        <p:nvSpPr>
          <p:cNvPr id="19" name="Text 19"/>
          <p:cNvSpPr txBox="1"/>
          <p:nvPr/>
        </p:nvSpPr>
        <p:spPr>
          <a:xfrm>
            <a:off x="4535424" y="4663440"/>
            <a:ext cx="3118104" cy="914400"/>
          </a:xfrm>
          <a:prstGeom prst="rect">
            <a:avLst/>
          </a:prstGeom>
          <a:noFill/>
          <a:ln/>
        </p:spPr>
        <p:txBody>
          <a:bodyPr wrap="square" lIns="0" tIns="0" rIns="0" bIns="0" rtlCol="0" anchor="ctr"/>
          <a:lstStyle/>
          <a:p>
            <a:pPr algn="l" indent="0" marL="0">
              <a:buNone/>
            </a:pPr>
            <a:r>
              <a:rPr lang="en-US" sz="1700" b="1" dirty="0">
                <a:solidFill>
                  <a:schemeClr val="bg1"/>
                </a:solidFill>
              </a:rPr>
              <a:t>Every figure carries its date</a:t>
            </a:r>
            <a:endParaRPr lang="en-US" sz="1700" dirty="0"/>
          </a:p>
        </p:txBody>
      </p:sp>
      <p:sp>
        <p:nvSpPr>
          <p:cNvPr id="20" name="Card 20"/>
          <p:cNvSpPr/>
          <p:nvPr/>
        </p:nvSpPr>
        <p:spPr>
          <a:xfrm>
            <a:off x="8065008" y="4663440"/>
            <a:ext cx="3575304" cy="914400"/>
          </a:xfrm>
          <a:prstGeom prst="roundRect">
            <a:avLst>
              <a:gd name="adj" fmla="val 8000"/>
            </a:avLst>
          </a:prstGeom>
          <a:solidFill>
            <a:schemeClr val="tx1"/>
          </a:solidFill>
          <a:ln w="6350">
            <a:solidFill>
              <a:schemeClr val="tx1"/>
            </a:solidFill>
            <a:prstDash val="solid"/>
          </a:ln>
        </p:spPr>
      </p:sp>
      <p:sp>
        <p:nvSpPr>
          <p:cNvPr id="21" name="Text 21"/>
          <p:cNvSpPr txBox="1"/>
          <p:nvPr/>
        </p:nvSpPr>
        <p:spPr>
          <a:xfrm>
            <a:off x="8293608" y="4663440"/>
            <a:ext cx="3118104" cy="914400"/>
          </a:xfrm>
          <a:prstGeom prst="rect">
            <a:avLst/>
          </a:prstGeom>
          <a:noFill/>
          <a:ln/>
        </p:spPr>
        <p:txBody>
          <a:bodyPr wrap="square" lIns="0" tIns="0" rIns="0" bIns="0" rtlCol="0" anchor="ctr"/>
          <a:lstStyle/>
          <a:p>
            <a:pPr algn="l" indent="0" marL="0">
              <a:buNone/>
            </a:pPr>
            <a:r>
              <a:rPr lang="en-US" sz="1700" b="1" dirty="0">
                <a:solidFill>
                  <a:schemeClr val="bg1"/>
                </a:solidFill>
              </a:rPr>
              <a:t>Nothing is estimated to fill a gap</a:t>
            </a:r>
            <a:endParaRPr lang="en-US" sz="17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Architecture: two machines, one direction of travel</a:t>
            </a:r>
            <a:endParaRPr lang="en-US" sz="3400" dirty="0"/>
          </a:p>
        </p:txBody>
      </p:sp>
      <p:sp>
        <p:nvSpPr>
          <p:cNvPr id="3" name="Card 22"/>
          <p:cNvSpPr/>
          <p:nvPr/>
        </p:nvSpPr>
        <p:spPr>
          <a:xfrm>
            <a:off x="548640" y="1508760"/>
            <a:ext cx="2468880" cy="2240280"/>
          </a:xfrm>
          <a:prstGeom prst="roundRect">
            <a:avLst>
              <a:gd name="adj" fmla="val 3265"/>
            </a:avLst>
          </a:prstGeom>
          <a:solidFill>
            <a:schemeClr val="bg2"/>
          </a:solidFill>
          <a:ln w="6350">
            <a:solidFill>
              <a:schemeClr val="bg2"/>
            </a:solidFill>
            <a:prstDash val="solid"/>
          </a:ln>
        </p:spPr>
      </p:sp>
      <p:sp>
        <p:nvSpPr>
          <p:cNvPr id="4" name="Text 23"/>
          <p:cNvSpPr txBox="1"/>
          <p:nvPr/>
        </p:nvSpPr>
        <p:spPr>
          <a:xfrm>
            <a:off x="749808" y="1709928"/>
            <a:ext cx="2066544"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SEARCH SERVICE</a:t>
            </a:r>
            <a:endParaRPr lang="en-US" sz="1100" dirty="0"/>
          </a:p>
        </p:txBody>
      </p:sp>
      <p:sp>
        <p:nvSpPr>
          <p:cNvPr id="5" name="Text 24"/>
          <p:cNvSpPr txBox="1"/>
          <p:nvPr/>
        </p:nvSpPr>
        <p:spPr>
          <a:xfrm>
            <a:off x="749808" y="1984248"/>
            <a:ext cx="2066544" cy="457200"/>
          </a:xfrm>
          <a:prstGeom prst="rect">
            <a:avLst/>
          </a:prstGeom>
          <a:noFill/>
          <a:ln/>
        </p:spPr>
        <p:txBody>
          <a:bodyPr wrap="square" lIns="0" tIns="0" rIns="0" bIns="0" rtlCol="0" anchor="t"/>
          <a:lstStyle/>
          <a:p>
            <a:pPr algn="l" indent="0" marL="0">
              <a:buNone/>
            </a:pPr>
            <a:r>
              <a:rPr lang="en-US" sz="2600" b="1" dirty="0">
                <a:solidFill>
                  <a:schemeClr val="tx1"/>
                </a:solidFill>
              </a:rPr>
              <a:t>Exa</a:t>
            </a:r>
            <a:endParaRPr lang="en-US" sz="2600" dirty="0"/>
          </a:p>
        </p:txBody>
      </p:sp>
      <p:sp>
        <p:nvSpPr>
          <p:cNvPr id="6" name="Text 25"/>
          <p:cNvSpPr txBox="1"/>
          <p:nvPr/>
        </p:nvSpPr>
        <p:spPr>
          <a:xfrm>
            <a:off x="749808" y="2560320"/>
            <a:ext cx="2066544" cy="1097280"/>
          </a:xfrm>
          <a:prstGeom prst="rect">
            <a:avLst/>
          </a:prstGeom>
          <a:noFill/>
          <a:ln/>
        </p:spPr>
        <p:txBody>
          <a:bodyPr wrap="square" lIns="0" tIns="0" rIns="0" bIns="0" rtlCol="0" anchor="t"/>
          <a:lstStyle/>
          <a:p>
            <a:pPr algn="l" indent="0" marL="0">
              <a:buNone/>
            </a:pPr>
            <a:r>
              <a:rPr lang="en-US" sz="1400" dirty="0">
                <a:solidFill>
                  <a:schemeClr val="tx2"/>
                </a:solidFill>
              </a:rPr>
              <a:t>Finds candidate documents across the open web.</a:t>
            </a:r>
            <a:endParaRPr lang="en-US" sz="1400" dirty="0"/>
          </a:p>
        </p:txBody>
      </p:sp>
      <p:sp>
        <p:nvSpPr>
          <p:cNvPr id="7" name="Arrow 26"/>
          <p:cNvSpPr/>
          <p:nvPr/>
        </p:nvSpPr>
        <p:spPr>
          <a:xfrm>
            <a:off x="3072384" y="2628900"/>
            <a:ext cx="292608" cy="0"/>
          </a:xfrm>
          <a:prstGeom prst="line">
            <a:avLst/>
          </a:prstGeom>
          <a:noFill/>
          <a:ln w="22225">
            <a:solidFill>
              <a:schemeClr val="accent5"/>
            </a:solidFill>
            <a:prstDash val="solid"/>
            <a:tailEnd type="triangle"/>
          </a:ln>
        </p:spPr>
      </p:sp>
      <p:sp>
        <p:nvSpPr>
          <p:cNvPr id="8" name="Card 27"/>
          <p:cNvSpPr/>
          <p:nvPr/>
        </p:nvSpPr>
        <p:spPr>
          <a:xfrm>
            <a:off x="3419856" y="1508760"/>
            <a:ext cx="2468880" cy="2240280"/>
          </a:xfrm>
          <a:prstGeom prst="roundRect">
            <a:avLst>
              <a:gd name="adj" fmla="val 3265"/>
            </a:avLst>
          </a:prstGeom>
          <a:solidFill>
            <a:schemeClr val="tx1"/>
          </a:solidFill>
          <a:ln w="6350">
            <a:solidFill>
              <a:schemeClr val="tx1"/>
            </a:solidFill>
            <a:prstDash val="solid"/>
          </a:ln>
        </p:spPr>
      </p:sp>
      <p:sp>
        <p:nvSpPr>
          <p:cNvPr id="9" name="Text 28"/>
          <p:cNvSpPr txBox="1"/>
          <p:nvPr/>
        </p:nvSpPr>
        <p:spPr>
          <a:xfrm>
            <a:off x="3621024" y="1709928"/>
            <a:ext cx="2066544" cy="237744"/>
          </a:xfrm>
          <a:prstGeom prst="rect">
            <a:avLst/>
          </a:prstGeom>
          <a:noFill/>
          <a:ln/>
        </p:spPr>
        <p:txBody>
          <a:bodyPr wrap="square" lIns="0" tIns="0" rIns="0" bIns="0" rtlCol="0" anchor="t"/>
          <a:lstStyle/>
          <a:p>
            <a:pPr algn="l" indent="0" marL="0">
              <a:buNone/>
            </a:pPr>
            <a:r>
              <a:rPr lang="en-US" sz="1100" b="1" spc="150" kern="0" dirty="0">
                <a:solidFill>
                  <a:schemeClr val="accent4"/>
                </a:solidFill>
              </a:rPr>
              <a:t>PRIVATE MACHINE</a:t>
            </a:r>
            <a:endParaRPr lang="en-US" sz="1100" dirty="0"/>
          </a:p>
        </p:txBody>
      </p:sp>
      <p:sp>
        <p:nvSpPr>
          <p:cNvPr id="10" name="Text 29"/>
          <p:cNvSpPr txBox="1"/>
          <p:nvPr/>
        </p:nvSpPr>
        <p:spPr>
          <a:xfrm>
            <a:off x="3621024" y="1984248"/>
            <a:ext cx="2066544" cy="457200"/>
          </a:xfrm>
          <a:prstGeom prst="rect">
            <a:avLst/>
          </a:prstGeom>
          <a:noFill/>
          <a:ln/>
        </p:spPr>
        <p:txBody>
          <a:bodyPr wrap="square" lIns="0" tIns="0" rIns="0" bIns="0" rtlCol="0" anchor="t"/>
          <a:lstStyle/>
          <a:p>
            <a:pPr algn="l" indent="0" marL="0">
              <a:buNone/>
            </a:pPr>
            <a:r>
              <a:rPr lang="en-US" sz="2600" b="1" dirty="0">
                <a:solidFill>
                  <a:schemeClr val="bg1"/>
                </a:solidFill>
              </a:rPr>
              <a:t>OSINT</a:t>
            </a:r>
            <a:endParaRPr lang="en-US" sz="2600" dirty="0"/>
          </a:p>
        </p:txBody>
      </p:sp>
      <p:sp>
        <p:nvSpPr>
          <p:cNvPr id="11" name="Text 30"/>
          <p:cNvSpPr txBox="1"/>
          <p:nvPr/>
        </p:nvSpPr>
        <p:spPr>
          <a:xfrm>
            <a:off x="3621024" y="2560320"/>
            <a:ext cx="2066544" cy="1097280"/>
          </a:xfrm>
          <a:prstGeom prst="rect">
            <a:avLst/>
          </a:prstGeom>
          <a:noFill/>
          <a:ln/>
        </p:spPr>
        <p:txBody>
          <a:bodyPr wrap="square" lIns="0" tIns="0" rIns="0" bIns="0" rtlCol="0" anchor="t"/>
          <a:lstStyle/>
          <a:p>
            <a:pPr algn="l" indent="0" marL="0">
              <a:buNone/>
            </a:pPr>
            <a:r>
              <a:rPr lang="en-US" sz="1400" dirty="0">
                <a:solidFill>
                  <a:schemeClr val="accent6"/>
                </a:solidFill>
              </a:rPr>
              <a:t>Fetches, screens and classifies documents. Keeps the full text.</a:t>
            </a:r>
            <a:endParaRPr lang="en-US" sz="1400" dirty="0"/>
          </a:p>
        </p:txBody>
      </p:sp>
      <p:sp>
        <p:nvSpPr>
          <p:cNvPr id="12" name="Arrow 31"/>
          <p:cNvSpPr/>
          <p:nvPr/>
        </p:nvSpPr>
        <p:spPr>
          <a:xfrm>
            <a:off x="5943600" y="2628900"/>
            <a:ext cx="292608" cy="0"/>
          </a:xfrm>
          <a:prstGeom prst="line">
            <a:avLst/>
          </a:prstGeom>
          <a:noFill/>
          <a:ln w="22225">
            <a:solidFill>
              <a:schemeClr val="accent5"/>
            </a:solidFill>
            <a:prstDash val="solid"/>
            <a:tailEnd type="triangle"/>
          </a:ln>
        </p:spPr>
      </p:sp>
      <p:sp>
        <p:nvSpPr>
          <p:cNvPr id="13" name="Card 32"/>
          <p:cNvSpPr/>
          <p:nvPr/>
        </p:nvSpPr>
        <p:spPr>
          <a:xfrm>
            <a:off x="6291072" y="1508760"/>
            <a:ext cx="2468880" cy="2240280"/>
          </a:xfrm>
          <a:prstGeom prst="roundRect">
            <a:avLst>
              <a:gd name="adj" fmla="val 3265"/>
            </a:avLst>
          </a:prstGeom>
          <a:solidFill>
            <a:schemeClr val="bg2"/>
          </a:solidFill>
          <a:ln w="6350">
            <a:solidFill>
              <a:schemeClr val="bg2"/>
            </a:solidFill>
            <a:prstDash val="solid"/>
          </a:ln>
        </p:spPr>
      </p:sp>
      <p:sp>
        <p:nvSpPr>
          <p:cNvPr id="14" name="Text 33"/>
          <p:cNvSpPr txBox="1"/>
          <p:nvPr/>
        </p:nvSpPr>
        <p:spPr>
          <a:xfrm>
            <a:off x="6492240" y="1709928"/>
            <a:ext cx="2066544"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PUBLIC REPOSITORY</a:t>
            </a:r>
            <a:endParaRPr lang="en-US" sz="1100" dirty="0"/>
          </a:p>
        </p:txBody>
      </p:sp>
      <p:sp>
        <p:nvSpPr>
          <p:cNvPr id="15" name="Text 34"/>
          <p:cNvSpPr txBox="1"/>
          <p:nvPr/>
        </p:nvSpPr>
        <p:spPr>
          <a:xfrm>
            <a:off x="6492240" y="1984248"/>
            <a:ext cx="2066544" cy="457200"/>
          </a:xfrm>
          <a:prstGeom prst="rect">
            <a:avLst/>
          </a:prstGeom>
          <a:noFill/>
          <a:ln/>
        </p:spPr>
        <p:txBody>
          <a:bodyPr wrap="square" lIns="0" tIns="0" rIns="0" bIns="0" rtlCol="0" anchor="t"/>
          <a:lstStyle/>
          <a:p>
            <a:pPr algn="l" indent="0" marL="0">
              <a:buNone/>
            </a:pPr>
            <a:r>
              <a:rPr lang="en-US" sz="2600" b="1" dirty="0">
                <a:solidFill>
                  <a:schemeClr val="tx1"/>
                </a:solidFill>
              </a:rPr>
              <a:t>Corpus</a:t>
            </a:r>
            <a:endParaRPr lang="en-US" sz="2600" dirty="0"/>
          </a:p>
        </p:txBody>
      </p:sp>
      <p:sp>
        <p:nvSpPr>
          <p:cNvPr id="16" name="Text 35"/>
          <p:cNvSpPr txBox="1"/>
          <p:nvPr/>
        </p:nvSpPr>
        <p:spPr>
          <a:xfrm>
            <a:off x="6492240" y="2560320"/>
            <a:ext cx="2066544" cy="1097280"/>
          </a:xfrm>
          <a:prstGeom prst="rect">
            <a:avLst/>
          </a:prstGeom>
          <a:noFill/>
          <a:ln/>
        </p:spPr>
        <p:txBody>
          <a:bodyPr wrap="square" lIns="0" tIns="0" rIns="0" bIns="0" rtlCol="0" anchor="t"/>
          <a:lstStyle/>
          <a:p>
            <a:pPr algn="l" indent="0" marL="0">
              <a:buNone/>
            </a:pPr>
            <a:r>
              <a:rPr lang="en-US" sz="1400" dirty="0">
                <a:solidFill>
                  <a:schemeClr val="tx2"/>
                </a:solidFill>
              </a:rPr>
              <a:t>Reads the metadata only. Compiles datasets and writes reports.</a:t>
            </a:r>
            <a:endParaRPr lang="en-US" sz="1400" dirty="0"/>
          </a:p>
        </p:txBody>
      </p:sp>
      <p:sp>
        <p:nvSpPr>
          <p:cNvPr id="17" name="Arrow 36"/>
          <p:cNvSpPr/>
          <p:nvPr/>
        </p:nvSpPr>
        <p:spPr>
          <a:xfrm>
            <a:off x="8814816" y="2628900"/>
            <a:ext cx="292608" cy="0"/>
          </a:xfrm>
          <a:prstGeom prst="line">
            <a:avLst/>
          </a:prstGeom>
          <a:noFill/>
          <a:ln w="22225">
            <a:solidFill>
              <a:schemeClr val="accent5"/>
            </a:solidFill>
            <a:prstDash val="solid"/>
            <a:tailEnd type="triangle"/>
          </a:ln>
        </p:spPr>
      </p:sp>
      <p:sp>
        <p:nvSpPr>
          <p:cNvPr id="18" name="Card 37"/>
          <p:cNvSpPr/>
          <p:nvPr/>
        </p:nvSpPr>
        <p:spPr>
          <a:xfrm>
            <a:off x="9162288" y="1508760"/>
            <a:ext cx="2468880" cy="2240280"/>
          </a:xfrm>
          <a:prstGeom prst="roundRect">
            <a:avLst>
              <a:gd name="adj" fmla="val 3265"/>
            </a:avLst>
          </a:prstGeom>
          <a:solidFill>
            <a:schemeClr val="bg2"/>
          </a:solidFill>
          <a:ln w="6350">
            <a:solidFill>
              <a:schemeClr val="bg2"/>
            </a:solidFill>
            <a:prstDash val="solid"/>
          </a:ln>
        </p:spPr>
      </p:sp>
      <p:sp>
        <p:nvSpPr>
          <p:cNvPr id="19" name="Text 38"/>
          <p:cNvSpPr txBox="1"/>
          <p:nvPr/>
        </p:nvSpPr>
        <p:spPr>
          <a:xfrm>
            <a:off x="9363456" y="1709928"/>
            <a:ext cx="2066544"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PUBLIC SITE</a:t>
            </a:r>
            <a:endParaRPr lang="en-US" sz="1100" dirty="0"/>
          </a:p>
        </p:txBody>
      </p:sp>
      <p:sp>
        <p:nvSpPr>
          <p:cNvPr id="20" name="Text 39"/>
          <p:cNvSpPr txBox="1"/>
          <p:nvPr/>
        </p:nvSpPr>
        <p:spPr>
          <a:xfrm>
            <a:off x="9363456" y="1984248"/>
            <a:ext cx="2066544" cy="457200"/>
          </a:xfrm>
          <a:prstGeom prst="rect">
            <a:avLst/>
          </a:prstGeom>
          <a:noFill/>
          <a:ln/>
        </p:spPr>
        <p:txBody>
          <a:bodyPr wrap="square" lIns="0" tIns="0" rIns="0" bIns="0" rtlCol="0" anchor="t"/>
          <a:lstStyle/>
          <a:p>
            <a:pPr algn="l" indent="0" marL="0">
              <a:buNone/>
            </a:pPr>
            <a:r>
              <a:rPr lang="en-US" sz="2600" b="1" dirty="0">
                <a:solidFill>
                  <a:schemeClr val="tx1"/>
                </a:solidFill>
              </a:rPr>
              <a:t>The site</a:t>
            </a:r>
            <a:endParaRPr lang="en-US" sz="2600" dirty="0"/>
          </a:p>
        </p:txBody>
      </p:sp>
      <p:sp>
        <p:nvSpPr>
          <p:cNvPr id="21" name="Text 40"/>
          <p:cNvSpPr txBox="1"/>
          <p:nvPr/>
        </p:nvSpPr>
        <p:spPr>
          <a:xfrm>
            <a:off x="9363456" y="2560320"/>
            <a:ext cx="2066544" cy="1097280"/>
          </a:xfrm>
          <a:prstGeom prst="rect">
            <a:avLst/>
          </a:prstGeom>
          <a:noFill/>
          <a:ln/>
        </p:spPr>
        <p:txBody>
          <a:bodyPr wrap="square" lIns="0" tIns="0" rIns="0" bIns="0" rtlCol="0" anchor="t"/>
          <a:lstStyle/>
          <a:p>
            <a:pPr algn="l" indent="0" marL="0">
              <a:buNone/>
            </a:pPr>
            <a:r>
              <a:rPr lang="en-US" sz="1400" dirty="0">
                <a:solidFill>
                  <a:schemeClr val="tx2"/>
                </a:solidFill>
              </a:rPr>
              <a:t>Reports, datasets, a catalogue and a bulletin, rebuilt every night.</a:t>
            </a:r>
            <a:endParaRPr lang="en-US" sz="1400" dirty="0"/>
          </a:p>
        </p:txBody>
      </p:sp>
      <p:sp>
        <p:nvSpPr>
          <p:cNvPr id="22" name="Line 41"/>
          <p:cNvSpPr/>
          <p:nvPr/>
        </p:nvSpPr>
        <p:spPr>
          <a:xfrm>
            <a:off x="4654296" y="3749040"/>
            <a:ext cx="0" cy="594360"/>
          </a:xfrm>
          <a:prstGeom prst="line">
            <a:avLst/>
          </a:prstGeom>
          <a:noFill/>
          <a:ln w="15875">
            <a:solidFill>
              <a:schemeClr val="accent5"/>
            </a:solidFill>
            <a:prstDash val="solid"/>
          </a:ln>
        </p:spPr>
      </p:sp>
      <p:sp>
        <p:nvSpPr>
          <p:cNvPr id="23" name="Line 42"/>
          <p:cNvSpPr/>
          <p:nvPr/>
        </p:nvSpPr>
        <p:spPr>
          <a:xfrm>
            <a:off x="7525512" y="3749040"/>
            <a:ext cx="0" cy="594360"/>
          </a:xfrm>
          <a:prstGeom prst="line">
            <a:avLst/>
          </a:prstGeom>
          <a:noFill/>
          <a:ln w="15875">
            <a:solidFill>
              <a:schemeClr val="accent5"/>
            </a:solidFill>
            <a:prstDash val="solid"/>
          </a:ln>
        </p:spPr>
      </p:sp>
      <p:sp>
        <p:nvSpPr>
          <p:cNvPr id="24" name="Text 43"/>
          <p:cNvSpPr txBox="1"/>
          <p:nvPr/>
        </p:nvSpPr>
        <p:spPr>
          <a:xfrm>
            <a:off x="4791456" y="3858768"/>
            <a:ext cx="2596896" cy="365760"/>
          </a:xfrm>
          <a:prstGeom prst="rect">
            <a:avLst/>
          </a:prstGeom>
          <a:noFill/>
          <a:ln/>
        </p:spPr>
        <p:txBody>
          <a:bodyPr wrap="square" lIns="0" tIns="0" rIns="0" bIns="0" rtlCol="0" anchor="t"/>
          <a:lstStyle/>
          <a:p>
            <a:pPr algn="ctr" indent="0" marL="0">
              <a:buNone/>
            </a:pPr>
            <a:r>
              <a:rPr lang="en-US" sz="1200" i="1" dirty="0">
                <a:solidFill>
                  <a:schemeClr val="tx2"/>
                </a:solidFill>
              </a:rPr>
              <a:t>read-only mirror and a nightly manifest</a:t>
            </a:r>
            <a:endParaRPr lang="en-US" sz="1200" dirty="0"/>
          </a:p>
        </p:txBody>
      </p:sp>
      <p:sp>
        <p:nvSpPr>
          <p:cNvPr id="25" name="Card 44"/>
          <p:cNvSpPr/>
          <p:nvPr/>
        </p:nvSpPr>
        <p:spPr>
          <a:xfrm>
            <a:off x="3419856" y="4343400"/>
            <a:ext cx="5340096" cy="777240"/>
          </a:xfrm>
          <a:prstGeom prst="roundRect">
            <a:avLst>
              <a:gd name="adj" fmla="val 9412"/>
            </a:avLst>
          </a:prstGeom>
          <a:solidFill>
            <a:schemeClr val="bg2"/>
          </a:solidFill>
          <a:ln w="6350">
            <a:solidFill>
              <a:schemeClr val="bg2"/>
            </a:solidFill>
            <a:prstDash val="solid"/>
          </a:ln>
        </p:spPr>
      </p:sp>
      <p:sp>
        <p:nvSpPr>
          <p:cNvPr id="26" name="Text 45"/>
          <p:cNvSpPr txBox="1"/>
          <p:nvPr/>
        </p:nvSpPr>
        <p:spPr>
          <a:xfrm>
            <a:off x="3621024" y="4343400"/>
            <a:ext cx="4937760" cy="777240"/>
          </a:xfrm>
          <a:prstGeom prst="rect">
            <a:avLst/>
          </a:prstGeom>
          <a:noFill/>
          <a:ln/>
        </p:spPr>
        <p:txBody>
          <a:bodyPr wrap="square" lIns="0" tIns="0" rIns="0" bIns="0" rtlCol="0" anchor="ctr"/>
          <a:lstStyle/>
          <a:p>
            <a:pPr algn="l" indent="0" marL="0">
              <a:buNone/>
            </a:pPr>
            <a:r>
              <a:rPr lang="en-US" sz="1400" b="1" dirty="0">
                <a:solidFill>
                  <a:schemeClr val="tx1"/>
                </a:solidFill>
              </a:rPr>
              <a:t>The share. </a:t>
            </a:r>
            <a:pPr algn="l" indent="0" marL="0">
              <a:buNone/>
            </a:pPr>
            <a:r>
              <a:rPr lang="en-US" sz="1400" dirty="0">
                <a:solidFill>
                  <a:schemeClr val="tx1"/>
                </a:solidFill>
              </a:rPr>
              <a:t>The one place both sides may write: notes, prepared patches and housekeeping registers.</a:t>
            </a:r>
            <a:endParaRPr lang="en-US" sz="1400" dirty="0"/>
          </a:p>
        </p:txBody>
      </p:sp>
      <p:sp>
        <p:nvSpPr>
          <p:cNvPr id="27" name="Text 46"/>
          <p:cNvSpPr txBox="1"/>
          <p:nvPr/>
        </p:nvSpPr>
        <p:spPr>
          <a:xfrm>
            <a:off x="548640" y="5394960"/>
            <a:ext cx="11091672" cy="731520"/>
          </a:xfrm>
          <a:prstGeom prst="rect">
            <a:avLst/>
          </a:prstGeom>
          <a:noFill/>
          <a:ln/>
        </p:spPr>
        <p:txBody>
          <a:bodyPr wrap="square" lIns="0" tIns="0" rIns="0" bIns="0" rtlCol="0" anchor="ctr"/>
          <a:lstStyle/>
          <a:p>
            <a:pPr algn="l" indent="0" marL="0">
              <a:buNone/>
            </a:pPr>
            <a:r>
              <a:rPr lang="en-US" sz="1400" b="1" dirty="0">
                <a:solidFill>
                  <a:schemeClr val="tx1"/>
                </a:solidFill>
              </a:rPr>
              <a:t>Why two machines? </a:t>
            </a:r>
            <a:pPr algn="l" indent="0" marL="0">
              <a:buNone/>
            </a:pPr>
            <a:r>
              <a:rPr lang="en-US" sz="1400" dirty="0">
                <a:solidFill>
                  <a:schemeClr val="tx2"/>
                </a:solidFill>
              </a:rPr>
              <a:t>The full text of the documents is under copyright and stays private. Everything public is metadata, classification and summary, and a derived view never writes back to its source.</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Collection: a rotation of specialised sweeps</a:t>
            </a:r>
            <a:endParaRPr lang="en-US" sz="3400" dirty="0"/>
          </a:p>
        </p:txBody>
      </p:sp>
      <p:sp>
        <p:nvSpPr>
          <p:cNvPr id="3" name="Card 47"/>
          <p:cNvSpPr/>
          <p:nvPr/>
        </p:nvSpPr>
        <p:spPr>
          <a:xfrm>
            <a:off x="548640" y="1508760"/>
            <a:ext cx="3703320" cy="1143000"/>
          </a:xfrm>
          <a:prstGeom prst="roundRect">
            <a:avLst>
              <a:gd name="adj" fmla="val 6400"/>
            </a:avLst>
          </a:prstGeom>
          <a:solidFill>
            <a:schemeClr val="bg2"/>
          </a:solidFill>
          <a:ln w="6350">
            <a:solidFill>
              <a:schemeClr val="bg2"/>
            </a:solidFill>
            <a:prstDash val="solid"/>
          </a:ln>
        </p:spPr>
      </p:sp>
      <p:sp>
        <p:nvSpPr>
          <p:cNvPr id="4" name="Text 48"/>
          <p:cNvSpPr txBox="1"/>
          <p:nvPr/>
        </p:nvSpPr>
        <p:spPr>
          <a:xfrm>
            <a:off x="749808" y="1636776"/>
            <a:ext cx="3300984" cy="329184"/>
          </a:xfrm>
          <a:prstGeom prst="rect">
            <a:avLst/>
          </a:prstGeom>
          <a:noFill/>
          <a:ln/>
        </p:spPr>
        <p:txBody>
          <a:bodyPr wrap="square" lIns="0" tIns="0" rIns="0" bIns="0" rtlCol="0" anchor="t"/>
          <a:lstStyle/>
          <a:p>
            <a:pPr algn="l" indent="0" marL="0">
              <a:buNone/>
            </a:pPr>
            <a:r>
              <a:rPr lang="en-US" sz="1700" b="1" dirty="0">
                <a:solidFill>
                  <a:schemeClr val="tx1"/>
                </a:solidFill>
              </a:rPr>
              <a:t>Trade journals</a:t>
            </a:r>
            <a:endParaRPr lang="en-US" sz="1700" dirty="0"/>
          </a:p>
        </p:txBody>
      </p:sp>
      <p:sp>
        <p:nvSpPr>
          <p:cNvPr id="5" name="Text 49"/>
          <p:cNvSpPr txBox="1"/>
          <p:nvPr/>
        </p:nvSpPr>
        <p:spPr>
          <a:xfrm>
            <a:off x="749808" y="2002536"/>
            <a:ext cx="3300984" cy="566928"/>
          </a:xfrm>
          <a:prstGeom prst="rect">
            <a:avLst/>
          </a:prstGeom>
          <a:noFill/>
          <a:ln/>
        </p:spPr>
        <p:txBody>
          <a:bodyPr wrap="square" lIns="0" tIns="0" rIns="0" bIns="0" rtlCol="0" anchor="t"/>
          <a:lstStyle/>
          <a:p>
            <a:pPr algn="l" indent="0" marL="0">
              <a:buNone/>
            </a:pPr>
            <a:r>
              <a:rPr lang="en-US" sz="1400" dirty="0">
                <a:solidFill>
                  <a:schemeClr val="tx2"/>
                </a:solidFill>
              </a:rPr>
              <a:t>A standing list, read by RSS feed, listing page and dated search.</a:t>
            </a:r>
            <a:endParaRPr lang="en-US" sz="1400" dirty="0"/>
          </a:p>
        </p:txBody>
      </p:sp>
      <p:sp>
        <p:nvSpPr>
          <p:cNvPr id="6" name="Card 50"/>
          <p:cNvSpPr/>
          <p:nvPr/>
        </p:nvSpPr>
        <p:spPr>
          <a:xfrm>
            <a:off x="4434840" y="1508760"/>
            <a:ext cx="3703320" cy="1143000"/>
          </a:xfrm>
          <a:prstGeom prst="roundRect">
            <a:avLst>
              <a:gd name="adj" fmla="val 6400"/>
            </a:avLst>
          </a:prstGeom>
          <a:solidFill>
            <a:schemeClr val="bg2"/>
          </a:solidFill>
          <a:ln w="6350">
            <a:solidFill>
              <a:schemeClr val="bg2"/>
            </a:solidFill>
            <a:prstDash val="solid"/>
          </a:ln>
        </p:spPr>
      </p:sp>
      <p:sp>
        <p:nvSpPr>
          <p:cNvPr id="7" name="Text 51"/>
          <p:cNvSpPr txBox="1"/>
          <p:nvPr/>
        </p:nvSpPr>
        <p:spPr>
          <a:xfrm>
            <a:off x="4636008" y="1636776"/>
            <a:ext cx="3300984" cy="329184"/>
          </a:xfrm>
          <a:prstGeom prst="rect">
            <a:avLst/>
          </a:prstGeom>
          <a:noFill/>
          <a:ln/>
        </p:spPr>
        <p:txBody>
          <a:bodyPr wrap="square" lIns="0" tIns="0" rIns="0" bIns="0" rtlCol="0" anchor="t"/>
          <a:lstStyle/>
          <a:p>
            <a:pPr algn="l" indent="0" marL="0">
              <a:buNone/>
            </a:pPr>
            <a:r>
              <a:rPr lang="en-US" sz="1700" b="1" dirty="0">
                <a:solidFill>
                  <a:schemeClr val="tx1"/>
                </a:solidFill>
              </a:rPr>
              <a:t>The open web</a:t>
            </a:r>
            <a:endParaRPr lang="en-US" sz="1700" dirty="0"/>
          </a:p>
        </p:txBody>
      </p:sp>
      <p:sp>
        <p:nvSpPr>
          <p:cNvPr id="8" name="Text 52"/>
          <p:cNvSpPr txBox="1"/>
          <p:nvPr/>
        </p:nvSpPr>
        <p:spPr>
          <a:xfrm>
            <a:off x="4636008" y="2002536"/>
            <a:ext cx="3300984" cy="566928"/>
          </a:xfrm>
          <a:prstGeom prst="rect">
            <a:avLst/>
          </a:prstGeom>
          <a:noFill/>
          <a:ln/>
        </p:spPr>
        <p:txBody>
          <a:bodyPr wrap="square" lIns="0" tIns="0" rIns="0" bIns="0" rtlCol="0" anchor="t"/>
          <a:lstStyle/>
          <a:p>
            <a:pPr algn="l" indent="0" marL="0">
              <a:buNone/>
            </a:pPr>
            <a:r>
              <a:rPr lang="en-US" sz="1400" dirty="0">
                <a:solidFill>
                  <a:schemeClr val="tx2"/>
                </a:solidFill>
              </a:rPr>
              <a:t>A deep research agent finds publishers we do not yet know.</a:t>
            </a:r>
            <a:endParaRPr lang="en-US" sz="1400" dirty="0"/>
          </a:p>
        </p:txBody>
      </p:sp>
      <p:sp>
        <p:nvSpPr>
          <p:cNvPr id="9" name="Card 53"/>
          <p:cNvSpPr/>
          <p:nvPr/>
        </p:nvSpPr>
        <p:spPr>
          <a:xfrm>
            <a:off x="548640" y="2816352"/>
            <a:ext cx="3703320" cy="1143000"/>
          </a:xfrm>
          <a:prstGeom prst="roundRect">
            <a:avLst>
              <a:gd name="adj" fmla="val 6400"/>
            </a:avLst>
          </a:prstGeom>
          <a:solidFill>
            <a:schemeClr val="bg2"/>
          </a:solidFill>
          <a:ln w="6350">
            <a:solidFill>
              <a:schemeClr val="bg2"/>
            </a:solidFill>
            <a:prstDash val="solid"/>
          </a:ln>
        </p:spPr>
      </p:sp>
      <p:sp>
        <p:nvSpPr>
          <p:cNvPr id="10" name="Text 54"/>
          <p:cNvSpPr txBox="1"/>
          <p:nvPr/>
        </p:nvSpPr>
        <p:spPr>
          <a:xfrm>
            <a:off x="749808" y="2944368"/>
            <a:ext cx="3300984" cy="329184"/>
          </a:xfrm>
          <a:prstGeom prst="rect">
            <a:avLst/>
          </a:prstGeom>
          <a:noFill/>
          <a:ln/>
        </p:spPr>
        <p:txBody>
          <a:bodyPr wrap="square" lIns="0" tIns="0" rIns="0" bIns="0" rtlCol="0" anchor="t"/>
          <a:lstStyle/>
          <a:p>
            <a:pPr algn="l" indent="0" marL="0">
              <a:buNone/>
            </a:pPr>
            <a:r>
              <a:rPr lang="en-US" sz="1700" b="1" dirty="0">
                <a:solidFill>
                  <a:schemeClr val="tx1"/>
                </a:solidFill>
              </a:rPr>
              <a:t>Press, journals, think tanks</a:t>
            </a:r>
            <a:endParaRPr lang="en-US" sz="1700" dirty="0"/>
          </a:p>
        </p:txBody>
      </p:sp>
      <p:sp>
        <p:nvSpPr>
          <p:cNvPr id="11" name="Text 55"/>
          <p:cNvSpPr txBox="1"/>
          <p:nvPr/>
        </p:nvSpPr>
        <p:spPr>
          <a:xfrm>
            <a:off x="749808" y="3310128"/>
            <a:ext cx="3300984" cy="566928"/>
          </a:xfrm>
          <a:prstGeom prst="rect">
            <a:avLst/>
          </a:prstGeom>
          <a:noFill/>
          <a:ln/>
        </p:spPr>
        <p:txBody>
          <a:bodyPr wrap="square" lIns="0" tIns="0" rIns="0" bIns="0" rtlCol="0" anchor="t"/>
          <a:lstStyle/>
          <a:p>
            <a:pPr algn="l" indent="0" marL="0">
              <a:buNone/>
            </a:pPr>
            <a:r>
              <a:rPr lang="en-US" sz="1400" dirty="0">
                <a:solidFill>
                  <a:schemeClr val="tx2"/>
                </a:solidFill>
              </a:rPr>
              <a:t>Each sweep works its own list and picks up what is new.</a:t>
            </a:r>
            <a:endParaRPr lang="en-US" sz="1400" dirty="0"/>
          </a:p>
        </p:txBody>
      </p:sp>
      <p:sp>
        <p:nvSpPr>
          <p:cNvPr id="12" name="Card 56"/>
          <p:cNvSpPr/>
          <p:nvPr/>
        </p:nvSpPr>
        <p:spPr>
          <a:xfrm>
            <a:off x="4434840" y="2816352"/>
            <a:ext cx="3703320" cy="1143000"/>
          </a:xfrm>
          <a:prstGeom prst="roundRect">
            <a:avLst>
              <a:gd name="adj" fmla="val 6400"/>
            </a:avLst>
          </a:prstGeom>
          <a:solidFill>
            <a:schemeClr val="bg2"/>
          </a:solidFill>
          <a:ln w="6350">
            <a:solidFill>
              <a:schemeClr val="bg2"/>
            </a:solidFill>
            <a:prstDash val="solid"/>
          </a:ln>
        </p:spPr>
      </p:sp>
      <p:sp>
        <p:nvSpPr>
          <p:cNvPr id="13" name="Text 57"/>
          <p:cNvSpPr txBox="1"/>
          <p:nvPr/>
        </p:nvSpPr>
        <p:spPr>
          <a:xfrm>
            <a:off x="4636008" y="2944368"/>
            <a:ext cx="3300984" cy="329184"/>
          </a:xfrm>
          <a:prstGeom prst="rect">
            <a:avLst/>
          </a:prstGeom>
          <a:noFill/>
          <a:ln/>
        </p:spPr>
        <p:txBody>
          <a:bodyPr wrap="square" lIns="0" tIns="0" rIns="0" bIns="0" rtlCol="0" anchor="t"/>
          <a:lstStyle/>
          <a:p>
            <a:pPr algn="l" indent="0" marL="0">
              <a:buNone/>
            </a:pPr>
            <a:r>
              <a:rPr lang="en-US" sz="1700" b="1" dirty="0">
                <a:solidFill>
                  <a:schemeClr val="tx1"/>
                </a:solidFill>
              </a:rPr>
              <a:t>The money</a:t>
            </a:r>
            <a:endParaRPr lang="en-US" sz="1700" dirty="0"/>
          </a:p>
        </p:txBody>
      </p:sp>
      <p:sp>
        <p:nvSpPr>
          <p:cNvPr id="14" name="Text 58"/>
          <p:cNvSpPr txBox="1"/>
          <p:nvPr/>
        </p:nvSpPr>
        <p:spPr>
          <a:xfrm>
            <a:off x="4636008" y="3310128"/>
            <a:ext cx="3300984" cy="566928"/>
          </a:xfrm>
          <a:prstGeom prst="rect">
            <a:avLst/>
          </a:prstGeom>
          <a:noFill/>
          <a:ln/>
        </p:spPr>
        <p:txBody>
          <a:bodyPr wrap="square" lIns="0" tIns="0" rIns="0" bIns="0" rtlCol="0" anchor="t"/>
          <a:lstStyle/>
          <a:p>
            <a:pPr algn="l" indent="0" marL="0">
              <a:buNone/>
            </a:pPr>
            <a:r>
              <a:rPr lang="en-US" sz="1400" dirty="0">
                <a:solidFill>
                  <a:schemeClr val="tx2"/>
                </a:solidFill>
              </a:rPr>
              <a:t>Financiers’ own publications, and the IATI aid data registry.</a:t>
            </a:r>
            <a:endParaRPr lang="en-US" sz="1400" dirty="0"/>
          </a:p>
        </p:txBody>
      </p:sp>
      <p:sp>
        <p:nvSpPr>
          <p:cNvPr id="15" name="Card 59"/>
          <p:cNvSpPr/>
          <p:nvPr/>
        </p:nvSpPr>
        <p:spPr>
          <a:xfrm>
            <a:off x="548640" y="4123944"/>
            <a:ext cx="3703320" cy="1143000"/>
          </a:xfrm>
          <a:prstGeom prst="roundRect">
            <a:avLst>
              <a:gd name="adj" fmla="val 6400"/>
            </a:avLst>
          </a:prstGeom>
          <a:solidFill>
            <a:schemeClr val="bg2"/>
          </a:solidFill>
          <a:ln w="6350">
            <a:solidFill>
              <a:schemeClr val="bg2"/>
            </a:solidFill>
            <a:prstDash val="solid"/>
          </a:ln>
        </p:spPr>
      </p:sp>
      <p:sp>
        <p:nvSpPr>
          <p:cNvPr id="16" name="Text 60"/>
          <p:cNvSpPr txBox="1"/>
          <p:nvPr/>
        </p:nvSpPr>
        <p:spPr>
          <a:xfrm>
            <a:off x="749808" y="4251960"/>
            <a:ext cx="3300984" cy="329184"/>
          </a:xfrm>
          <a:prstGeom prst="rect">
            <a:avLst/>
          </a:prstGeom>
          <a:noFill/>
          <a:ln/>
        </p:spPr>
        <p:txBody>
          <a:bodyPr wrap="square" lIns="0" tIns="0" rIns="0" bIns="0" rtlCol="0" anchor="t"/>
          <a:lstStyle/>
          <a:p>
            <a:pPr algn="l" indent="0" marL="0">
              <a:buNone/>
            </a:pPr>
            <a:r>
              <a:rPr lang="en-US" sz="1700" b="1" dirty="0">
                <a:solidFill>
                  <a:schemeClr val="tx1"/>
                </a:solidFill>
              </a:rPr>
              <a:t>Countries and regions</a:t>
            </a:r>
            <a:endParaRPr lang="en-US" sz="1700" dirty="0"/>
          </a:p>
        </p:txBody>
      </p:sp>
      <p:sp>
        <p:nvSpPr>
          <p:cNvPr id="17" name="Text 61"/>
          <p:cNvSpPr txBox="1"/>
          <p:nvPr/>
        </p:nvSpPr>
        <p:spPr>
          <a:xfrm>
            <a:off x="749808" y="4617720"/>
            <a:ext cx="3300984" cy="566928"/>
          </a:xfrm>
          <a:prstGeom prst="rect">
            <a:avLst/>
          </a:prstGeom>
          <a:noFill/>
          <a:ln/>
        </p:spPr>
        <p:txBody>
          <a:bodyPr wrap="square" lIns="0" tIns="0" rIns="0" bIns="0" rtlCol="0" anchor="t"/>
          <a:lstStyle/>
          <a:p>
            <a:pPr algn="l" indent="0" marL="0">
              <a:buNone/>
            </a:pPr>
            <a:r>
              <a:rPr lang="en-US" sz="1400" dirty="0">
                <a:solidFill>
                  <a:schemeClr val="tx2"/>
                </a:solidFill>
              </a:rPr>
              <a:t>Four standing research briefs per country, for institutional depth.</a:t>
            </a:r>
            <a:endParaRPr lang="en-US" sz="1400" dirty="0"/>
          </a:p>
        </p:txBody>
      </p:sp>
      <p:sp>
        <p:nvSpPr>
          <p:cNvPr id="18" name="Card 62"/>
          <p:cNvSpPr/>
          <p:nvPr/>
        </p:nvSpPr>
        <p:spPr>
          <a:xfrm>
            <a:off x="4434840" y="4123944"/>
            <a:ext cx="3703320" cy="1143000"/>
          </a:xfrm>
          <a:prstGeom prst="roundRect">
            <a:avLst>
              <a:gd name="adj" fmla="val 6400"/>
            </a:avLst>
          </a:prstGeom>
          <a:solidFill>
            <a:schemeClr val="bg2"/>
          </a:solidFill>
          <a:ln w="6350">
            <a:solidFill>
              <a:schemeClr val="bg2"/>
            </a:solidFill>
            <a:prstDash val="solid"/>
          </a:ln>
        </p:spPr>
      </p:sp>
      <p:sp>
        <p:nvSpPr>
          <p:cNvPr id="19" name="Text 63"/>
          <p:cNvSpPr txBox="1"/>
          <p:nvPr/>
        </p:nvSpPr>
        <p:spPr>
          <a:xfrm>
            <a:off x="4636008" y="4251960"/>
            <a:ext cx="3300984" cy="329184"/>
          </a:xfrm>
          <a:prstGeom prst="rect">
            <a:avLst/>
          </a:prstGeom>
          <a:noFill/>
          <a:ln/>
        </p:spPr>
        <p:txBody>
          <a:bodyPr wrap="square" lIns="0" tIns="0" rIns="0" bIns="0" rtlCol="0" anchor="t"/>
          <a:lstStyle/>
          <a:p>
            <a:pPr algn="l" indent="0" marL="0">
              <a:buNone/>
            </a:pPr>
            <a:r>
              <a:rPr lang="en-US" sz="1700" b="1" dirty="0">
                <a:solidFill>
                  <a:schemeClr val="tx1"/>
                </a:solidFill>
              </a:rPr>
              <a:t>National budgets</a:t>
            </a:r>
            <a:endParaRPr lang="en-US" sz="1700" dirty="0"/>
          </a:p>
        </p:txBody>
      </p:sp>
      <p:sp>
        <p:nvSpPr>
          <p:cNvPr id="20" name="Text 64"/>
          <p:cNvSpPr txBox="1"/>
          <p:nvPr/>
        </p:nvSpPr>
        <p:spPr>
          <a:xfrm>
            <a:off x="4636008" y="4617720"/>
            <a:ext cx="3300984" cy="566928"/>
          </a:xfrm>
          <a:prstGeom prst="rect">
            <a:avLst/>
          </a:prstGeom>
          <a:noFill/>
          <a:ln/>
        </p:spPr>
        <p:txBody>
          <a:bodyPr wrap="square" lIns="0" tIns="0" rIns="0" bIns="0" rtlCol="0" anchor="t"/>
          <a:lstStyle/>
          <a:p>
            <a:pPr algn="l" indent="0" marL="0">
              <a:buNone/>
            </a:pPr>
            <a:r>
              <a:rPr lang="en-US" sz="1400" dirty="0">
                <a:solidFill>
                  <a:schemeClr val="tx2"/>
                </a:solidFill>
              </a:rPr>
              <a:t>A daily poll of 66 budget libraries for states’ own documents.</a:t>
            </a:r>
            <a:endParaRPr lang="en-US" sz="1400" dirty="0"/>
          </a:p>
        </p:txBody>
      </p:sp>
      <p:sp>
        <p:nvSpPr>
          <p:cNvPr id="21" name="Card 65"/>
          <p:cNvSpPr/>
          <p:nvPr/>
        </p:nvSpPr>
        <p:spPr>
          <a:xfrm>
            <a:off x="8412480" y="1508760"/>
            <a:ext cx="3227832" cy="3758184"/>
          </a:xfrm>
          <a:prstGeom prst="roundRect">
            <a:avLst>
              <a:gd name="adj" fmla="val 2266"/>
            </a:avLst>
          </a:prstGeom>
          <a:solidFill>
            <a:schemeClr val="tx1"/>
          </a:solidFill>
          <a:ln w="6350">
            <a:solidFill>
              <a:schemeClr val="tx1"/>
            </a:solidFill>
            <a:prstDash val="solid"/>
          </a:ln>
        </p:spPr>
      </p:sp>
      <p:sp>
        <p:nvSpPr>
          <p:cNvPr id="22" name="Text 66"/>
          <p:cNvSpPr txBox="1"/>
          <p:nvPr/>
        </p:nvSpPr>
        <p:spPr>
          <a:xfrm>
            <a:off x="8641080" y="1691640"/>
            <a:ext cx="2770632" cy="237744"/>
          </a:xfrm>
          <a:prstGeom prst="rect">
            <a:avLst/>
          </a:prstGeom>
          <a:noFill/>
          <a:ln/>
        </p:spPr>
        <p:txBody>
          <a:bodyPr wrap="square" lIns="0" tIns="0" rIns="0" bIns="0" rtlCol="0" anchor="t"/>
          <a:lstStyle/>
          <a:p>
            <a:pPr algn="l" indent="0" marL="0">
              <a:buNone/>
            </a:pPr>
            <a:r>
              <a:rPr lang="en-US" sz="1100" b="1" spc="150" kern="0" dirty="0">
                <a:solidFill>
                  <a:schemeClr val="accent4"/>
                </a:solidFill>
              </a:rPr>
              <a:t>ONE NIGHT: 4 OCTOBER 2026</a:t>
            </a:r>
            <a:endParaRPr lang="en-US" sz="1100" dirty="0"/>
          </a:p>
        </p:txBody>
      </p:sp>
      <p:sp>
        <p:nvSpPr>
          <p:cNvPr id="23" name="Text 67"/>
          <p:cNvSpPr txBox="1"/>
          <p:nvPr/>
        </p:nvSpPr>
        <p:spPr>
          <a:xfrm>
            <a:off x="8641080" y="2057400"/>
            <a:ext cx="2770632" cy="594360"/>
          </a:xfrm>
          <a:prstGeom prst="rect">
            <a:avLst/>
          </a:prstGeom>
          <a:noFill/>
          <a:ln/>
        </p:spPr>
        <p:txBody>
          <a:bodyPr wrap="square" lIns="0" tIns="0" rIns="0" bIns="0" rtlCol="0" anchor="ctr"/>
          <a:lstStyle/>
          <a:p>
            <a:pPr algn="l" indent="0" marL="0">
              <a:buNone/>
            </a:pPr>
            <a:r>
              <a:rPr lang="en-US" sz="3800" b="1" dirty="0">
                <a:solidFill>
                  <a:schemeClr val="bg1"/>
                </a:solidFill>
              </a:rPr>
              <a:t>1,161</a:t>
            </a:r>
            <a:endParaRPr lang="en-US" sz="3800" dirty="0"/>
          </a:p>
        </p:txBody>
      </p:sp>
      <p:sp>
        <p:nvSpPr>
          <p:cNvPr id="24" name="Text 68"/>
          <p:cNvSpPr txBox="1"/>
          <p:nvPr/>
        </p:nvSpPr>
        <p:spPr>
          <a:xfrm>
            <a:off x="8641080" y="2660904"/>
            <a:ext cx="2770632" cy="274320"/>
          </a:xfrm>
          <a:prstGeom prst="rect">
            <a:avLst/>
          </a:prstGeom>
          <a:noFill/>
          <a:ln/>
        </p:spPr>
        <p:txBody>
          <a:bodyPr wrap="square" lIns="0" tIns="0" rIns="0" bIns="0" rtlCol="0" anchor="t"/>
          <a:lstStyle/>
          <a:p>
            <a:pPr algn="l" indent="0" marL="0">
              <a:buNone/>
            </a:pPr>
            <a:r>
              <a:rPr lang="en-US" sz="1400" dirty="0">
                <a:solidFill>
                  <a:schemeClr val="accent6"/>
                </a:solidFill>
              </a:rPr>
              <a:t>candidates screened</a:t>
            </a:r>
            <a:endParaRPr lang="en-US" sz="1400" dirty="0"/>
          </a:p>
        </p:txBody>
      </p:sp>
      <p:sp>
        <p:nvSpPr>
          <p:cNvPr id="25" name="Text 69"/>
          <p:cNvSpPr txBox="1"/>
          <p:nvPr/>
        </p:nvSpPr>
        <p:spPr>
          <a:xfrm>
            <a:off x="8641080" y="3108960"/>
            <a:ext cx="2770632" cy="594360"/>
          </a:xfrm>
          <a:prstGeom prst="rect">
            <a:avLst/>
          </a:prstGeom>
          <a:noFill/>
          <a:ln/>
        </p:spPr>
        <p:txBody>
          <a:bodyPr wrap="square" lIns="0" tIns="0" rIns="0" bIns="0" rtlCol="0" anchor="ctr"/>
          <a:lstStyle/>
          <a:p>
            <a:pPr algn="l" indent="0" marL="0">
              <a:buNone/>
            </a:pPr>
            <a:r>
              <a:rPr lang="en-US" sz="3800" b="1" dirty="0">
                <a:solidFill>
                  <a:schemeClr val="bg1"/>
                </a:solidFill>
              </a:rPr>
              <a:t>138</a:t>
            </a:r>
            <a:endParaRPr lang="en-US" sz="3800" dirty="0"/>
          </a:p>
        </p:txBody>
      </p:sp>
      <p:sp>
        <p:nvSpPr>
          <p:cNvPr id="26" name="Text 70"/>
          <p:cNvSpPr txBox="1"/>
          <p:nvPr/>
        </p:nvSpPr>
        <p:spPr>
          <a:xfrm>
            <a:off x="8641080" y="3712464"/>
            <a:ext cx="2770632" cy="274320"/>
          </a:xfrm>
          <a:prstGeom prst="rect">
            <a:avLst/>
          </a:prstGeom>
          <a:noFill/>
          <a:ln/>
        </p:spPr>
        <p:txBody>
          <a:bodyPr wrap="square" lIns="0" tIns="0" rIns="0" bIns="0" rtlCol="0" anchor="t"/>
          <a:lstStyle/>
          <a:p>
            <a:pPr algn="l" indent="0" marL="0">
              <a:buNone/>
            </a:pPr>
            <a:r>
              <a:rPr lang="en-US" sz="1400" dirty="0">
                <a:solidFill>
                  <a:schemeClr val="accent6"/>
                </a:solidFill>
              </a:rPr>
              <a:t>went on to ingest</a:t>
            </a:r>
            <a:endParaRPr lang="en-US" sz="1400" dirty="0"/>
          </a:p>
        </p:txBody>
      </p:sp>
      <p:sp>
        <p:nvSpPr>
          <p:cNvPr id="27" name="Text 71"/>
          <p:cNvSpPr txBox="1"/>
          <p:nvPr/>
        </p:nvSpPr>
        <p:spPr>
          <a:xfrm>
            <a:off x="8641080" y="4160520"/>
            <a:ext cx="2770632" cy="594360"/>
          </a:xfrm>
          <a:prstGeom prst="rect">
            <a:avLst/>
          </a:prstGeom>
          <a:noFill/>
          <a:ln/>
        </p:spPr>
        <p:txBody>
          <a:bodyPr wrap="square" lIns="0" tIns="0" rIns="0" bIns="0" rtlCol="0" anchor="ctr"/>
          <a:lstStyle/>
          <a:p>
            <a:pPr algn="l" indent="0" marL="0">
              <a:buNone/>
            </a:pPr>
            <a:r>
              <a:rPr lang="en-US" sz="3800" b="1" dirty="0">
                <a:solidFill>
                  <a:schemeClr val="bg1"/>
                </a:solidFill>
              </a:rPr>
              <a:t>76</a:t>
            </a:r>
            <a:endParaRPr lang="en-US" sz="3800" dirty="0"/>
          </a:p>
        </p:txBody>
      </p:sp>
      <p:sp>
        <p:nvSpPr>
          <p:cNvPr id="28" name="Text 72"/>
          <p:cNvSpPr txBox="1"/>
          <p:nvPr/>
        </p:nvSpPr>
        <p:spPr>
          <a:xfrm>
            <a:off x="8641080" y="4764024"/>
            <a:ext cx="2770632" cy="274320"/>
          </a:xfrm>
          <a:prstGeom prst="rect">
            <a:avLst/>
          </a:prstGeom>
          <a:noFill/>
          <a:ln/>
        </p:spPr>
        <p:txBody>
          <a:bodyPr wrap="square" lIns="0" tIns="0" rIns="0" bIns="0" rtlCol="0" anchor="t"/>
          <a:lstStyle/>
          <a:p>
            <a:pPr algn="l" indent="0" marL="0">
              <a:buNone/>
            </a:pPr>
            <a:r>
              <a:rPr lang="en-US" sz="1400" dirty="0">
                <a:solidFill>
                  <a:schemeClr val="accent6"/>
                </a:solidFill>
              </a:rPr>
              <a:t>admitted to the archive</a:t>
            </a:r>
            <a:endParaRPr lang="en-US" sz="1400" dirty="0"/>
          </a:p>
        </p:txBody>
      </p:sp>
      <p:sp>
        <p:nvSpPr>
          <p:cNvPr id="29" name="Text 73"/>
          <p:cNvSpPr txBox="1"/>
          <p:nvPr/>
        </p:nvSpPr>
        <p:spPr>
          <a:xfrm>
            <a:off x="548640" y="5440680"/>
            <a:ext cx="11091672" cy="731520"/>
          </a:xfrm>
          <a:prstGeom prst="rect">
            <a:avLst/>
          </a:prstGeom>
          <a:noFill/>
          <a:ln/>
        </p:spPr>
        <p:txBody>
          <a:bodyPr wrap="square" lIns="0" tIns="0" rIns="0" bIns="0" rtlCol="0" anchor="ctr"/>
          <a:lstStyle/>
          <a:p>
            <a:pPr algn="l" indent="0" marL="0">
              <a:buNone/>
            </a:pPr>
            <a:r>
              <a:rPr lang="en-US" sz="1400" b="1" dirty="0">
                <a:solidFill>
                  <a:schemeClr val="tx1"/>
                </a:solidFill>
              </a:rPr>
              <a:t>Two rules at the point of capture. </a:t>
            </a:r>
            <a:pPr algn="l" indent="0" marL="0">
              <a:buNone/>
            </a:pPr>
            <a:r>
              <a:rPr lang="en-US" sz="1400" dirty="0">
                <a:solidFill>
                  <a:schemeClr val="tx2"/>
                </a:solidFill>
              </a:rPr>
              <a:t>A bad origin is refused before anything is fetched. And the document’s own words are stored in full, never an excerpt, a summary or a machine translation.</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Processing: one door into the archive</a:t>
            </a:r>
            <a:endParaRPr lang="en-US" sz="3400" dirty="0"/>
          </a:p>
        </p:txBody>
      </p:sp>
      <p:sp>
        <p:nvSpPr>
          <p:cNvPr id="3" name="Text 74"/>
          <p:cNvSpPr txBox="1"/>
          <p:nvPr/>
        </p:nvSpPr>
        <p:spPr>
          <a:xfrm>
            <a:off x="548640" y="1463040"/>
            <a:ext cx="5349240" cy="365760"/>
          </a:xfrm>
          <a:prstGeom prst="rect">
            <a:avLst/>
          </a:prstGeom>
          <a:noFill/>
          <a:ln/>
        </p:spPr>
        <p:txBody>
          <a:bodyPr wrap="square" lIns="0" tIns="0" rIns="0" bIns="0" rtlCol="0" anchor="t"/>
          <a:lstStyle/>
          <a:p>
            <a:pPr algn="l" indent="0" marL="0">
              <a:buNone/>
            </a:pPr>
            <a:r>
              <a:rPr lang="en-US" sz="1800" b="1" dirty="0">
                <a:solidFill>
                  <a:schemeClr val="tx1"/>
                </a:solidFill>
              </a:rPr>
              <a:t>Every candidate gets exactly one of four outcomes</a:t>
            </a:r>
            <a:endParaRPr lang="en-US" sz="1800" dirty="0"/>
          </a:p>
        </p:txBody>
      </p:sp>
      <p:sp>
        <p:nvSpPr>
          <p:cNvPr id="4" name="Card 75"/>
          <p:cNvSpPr/>
          <p:nvPr/>
        </p:nvSpPr>
        <p:spPr>
          <a:xfrm>
            <a:off x="548640" y="2011680"/>
            <a:ext cx="5349240" cy="896112"/>
          </a:xfrm>
          <a:prstGeom prst="roundRect">
            <a:avLst>
              <a:gd name="adj" fmla="val 8163"/>
            </a:avLst>
          </a:prstGeom>
          <a:solidFill>
            <a:schemeClr val="tx1"/>
          </a:solidFill>
          <a:ln w="6350">
            <a:solidFill>
              <a:schemeClr val="tx1"/>
            </a:solidFill>
            <a:prstDash val="solid"/>
          </a:ln>
        </p:spPr>
      </p:sp>
      <p:sp>
        <p:nvSpPr>
          <p:cNvPr id="5" name="Text 76"/>
          <p:cNvSpPr txBox="1"/>
          <p:nvPr/>
        </p:nvSpPr>
        <p:spPr>
          <a:xfrm>
            <a:off x="777240" y="2011680"/>
            <a:ext cx="1874520" cy="896112"/>
          </a:xfrm>
          <a:prstGeom prst="rect">
            <a:avLst/>
          </a:prstGeom>
          <a:noFill/>
          <a:ln/>
        </p:spPr>
        <p:txBody>
          <a:bodyPr wrap="square" lIns="0" tIns="0" rIns="0" bIns="0" rtlCol="0" anchor="ctr"/>
          <a:lstStyle/>
          <a:p>
            <a:pPr algn="l" indent="0" marL="0">
              <a:buNone/>
            </a:pPr>
            <a:r>
              <a:rPr lang="en-US" sz="1600" b="1" dirty="0">
                <a:solidFill>
                  <a:schemeClr val="bg1"/>
                </a:solidFill>
              </a:rPr>
              <a:t>Admitted</a:t>
            </a:r>
            <a:endParaRPr lang="en-US" sz="1600" dirty="0"/>
          </a:p>
        </p:txBody>
      </p:sp>
      <p:sp>
        <p:nvSpPr>
          <p:cNvPr id="6" name="Text 77"/>
          <p:cNvSpPr txBox="1"/>
          <p:nvPr/>
        </p:nvSpPr>
        <p:spPr>
          <a:xfrm>
            <a:off x="2743200" y="2011680"/>
            <a:ext cx="2926080" cy="896112"/>
          </a:xfrm>
          <a:prstGeom prst="rect">
            <a:avLst/>
          </a:prstGeom>
          <a:noFill/>
          <a:ln/>
        </p:spPr>
        <p:txBody>
          <a:bodyPr wrap="square" lIns="0" tIns="0" rIns="0" bIns="0" rtlCol="0" anchor="ctr"/>
          <a:lstStyle/>
          <a:p>
            <a:pPr algn="l" indent="0" marL="0">
              <a:buNone/>
            </a:pPr>
            <a:r>
              <a:rPr lang="en-US" sz="1400" dirty="0">
                <a:solidFill>
                  <a:schemeClr val="accent6"/>
                </a:solidFill>
              </a:rPr>
              <a:t>Classified and filed in the dated archive.</a:t>
            </a:r>
            <a:endParaRPr lang="en-US" sz="1400" dirty="0"/>
          </a:p>
        </p:txBody>
      </p:sp>
      <p:sp>
        <p:nvSpPr>
          <p:cNvPr id="7" name="Card 78"/>
          <p:cNvSpPr/>
          <p:nvPr/>
        </p:nvSpPr>
        <p:spPr>
          <a:xfrm>
            <a:off x="548640" y="3017520"/>
            <a:ext cx="5349240" cy="896112"/>
          </a:xfrm>
          <a:prstGeom prst="roundRect">
            <a:avLst>
              <a:gd name="adj" fmla="val 8163"/>
            </a:avLst>
          </a:prstGeom>
          <a:solidFill>
            <a:schemeClr val="bg2"/>
          </a:solidFill>
          <a:ln w="6350">
            <a:solidFill>
              <a:schemeClr val="bg2"/>
            </a:solidFill>
            <a:prstDash val="solid"/>
          </a:ln>
        </p:spPr>
      </p:sp>
      <p:sp>
        <p:nvSpPr>
          <p:cNvPr id="8" name="Text 79"/>
          <p:cNvSpPr txBox="1"/>
          <p:nvPr/>
        </p:nvSpPr>
        <p:spPr>
          <a:xfrm>
            <a:off x="777240" y="3017520"/>
            <a:ext cx="1874520" cy="896112"/>
          </a:xfrm>
          <a:prstGeom prst="rect">
            <a:avLst/>
          </a:prstGeom>
          <a:noFill/>
          <a:ln/>
        </p:spPr>
        <p:txBody>
          <a:bodyPr wrap="square" lIns="0" tIns="0" rIns="0" bIns="0" rtlCol="0" anchor="ctr"/>
          <a:lstStyle/>
          <a:p>
            <a:pPr algn="l" indent="0" marL="0">
              <a:buNone/>
            </a:pPr>
            <a:r>
              <a:rPr lang="en-US" sz="1600" b="1" dirty="0">
                <a:solidFill>
                  <a:schemeClr val="tx1"/>
                </a:solidFill>
              </a:rPr>
              <a:t>Contradiction brief</a:t>
            </a:r>
            <a:endParaRPr lang="en-US" sz="1600" dirty="0"/>
          </a:p>
        </p:txBody>
      </p:sp>
      <p:sp>
        <p:nvSpPr>
          <p:cNvPr id="9" name="Text 80"/>
          <p:cNvSpPr txBox="1"/>
          <p:nvPr/>
        </p:nvSpPr>
        <p:spPr>
          <a:xfrm>
            <a:off x="2743200" y="3017520"/>
            <a:ext cx="2926080" cy="896112"/>
          </a:xfrm>
          <a:prstGeom prst="rect">
            <a:avLst/>
          </a:prstGeom>
          <a:noFill/>
          <a:ln/>
        </p:spPr>
        <p:txBody>
          <a:bodyPr wrap="square" lIns="0" tIns="0" rIns="0" bIns="0" rtlCol="0" anchor="ctr"/>
          <a:lstStyle/>
          <a:p>
            <a:pPr algn="l" indent="0" marL="0">
              <a:buNone/>
            </a:pPr>
            <a:r>
              <a:rPr lang="en-US" sz="1400" dirty="0">
                <a:solidFill>
                  <a:schemeClr val="tx2"/>
                </a:solidFill>
              </a:rPr>
              <a:t>It disagrees with a source already held, so the conflict is researched.</a:t>
            </a:r>
            <a:endParaRPr lang="en-US" sz="1400" dirty="0"/>
          </a:p>
        </p:txBody>
      </p:sp>
      <p:sp>
        <p:nvSpPr>
          <p:cNvPr id="10" name="Card 81"/>
          <p:cNvSpPr/>
          <p:nvPr/>
        </p:nvSpPr>
        <p:spPr>
          <a:xfrm>
            <a:off x="548640" y="4023360"/>
            <a:ext cx="5349240" cy="896112"/>
          </a:xfrm>
          <a:prstGeom prst="roundRect">
            <a:avLst>
              <a:gd name="adj" fmla="val 8163"/>
            </a:avLst>
          </a:prstGeom>
          <a:solidFill>
            <a:schemeClr val="bg2"/>
          </a:solidFill>
          <a:ln w="6350">
            <a:solidFill>
              <a:schemeClr val="bg2"/>
            </a:solidFill>
            <a:prstDash val="solid"/>
          </a:ln>
        </p:spPr>
      </p:sp>
      <p:sp>
        <p:nvSpPr>
          <p:cNvPr id="11" name="Text 82"/>
          <p:cNvSpPr txBox="1"/>
          <p:nvPr/>
        </p:nvSpPr>
        <p:spPr>
          <a:xfrm>
            <a:off x="777240" y="4023360"/>
            <a:ext cx="1874520" cy="896112"/>
          </a:xfrm>
          <a:prstGeom prst="rect">
            <a:avLst/>
          </a:prstGeom>
          <a:noFill/>
          <a:ln/>
        </p:spPr>
        <p:txBody>
          <a:bodyPr wrap="square" lIns="0" tIns="0" rIns="0" bIns="0" rtlCol="0" anchor="ctr"/>
          <a:lstStyle/>
          <a:p>
            <a:pPr algn="l" indent="0" marL="0">
              <a:buNone/>
            </a:pPr>
            <a:r>
              <a:rPr lang="en-US" sz="1600" b="1" dirty="0">
                <a:solidFill>
                  <a:schemeClr val="tx1"/>
                </a:solidFill>
              </a:rPr>
              <a:t>Acquisition line</a:t>
            </a:r>
            <a:endParaRPr lang="en-US" sz="1600" dirty="0"/>
          </a:p>
        </p:txBody>
      </p:sp>
      <p:sp>
        <p:nvSpPr>
          <p:cNvPr id="12" name="Text 83"/>
          <p:cNvSpPr txBox="1"/>
          <p:nvPr/>
        </p:nvSpPr>
        <p:spPr>
          <a:xfrm>
            <a:off x="2743200" y="4023360"/>
            <a:ext cx="2926080" cy="896112"/>
          </a:xfrm>
          <a:prstGeom prst="rect">
            <a:avLst/>
          </a:prstGeom>
          <a:noFill/>
          <a:ln/>
        </p:spPr>
        <p:txBody>
          <a:bodyPr wrap="square" lIns="0" tIns="0" rIns="0" bIns="0" rtlCol="0" anchor="ctr"/>
          <a:lstStyle/>
          <a:p>
            <a:pPr algn="l" indent="0" marL="0">
              <a:buNone/>
            </a:pPr>
            <a:r>
              <a:rPr lang="en-US" sz="1400" dirty="0">
                <a:solidFill>
                  <a:schemeClr val="tx2"/>
                </a:solidFill>
              </a:rPr>
              <a:t>It points to a primary document we lack. One automated attempt to get it.</a:t>
            </a:r>
            <a:endParaRPr lang="en-US" sz="1400" dirty="0"/>
          </a:p>
        </p:txBody>
      </p:sp>
      <p:sp>
        <p:nvSpPr>
          <p:cNvPr id="13" name="Card 84"/>
          <p:cNvSpPr/>
          <p:nvPr/>
        </p:nvSpPr>
        <p:spPr>
          <a:xfrm>
            <a:off x="548640" y="5029200"/>
            <a:ext cx="5349240" cy="896112"/>
          </a:xfrm>
          <a:prstGeom prst="roundRect">
            <a:avLst>
              <a:gd name="adj" fmla="val 8163"/>
            </a:avLst>
          </a:prstGeom>
          <a:solidFill>
            <a:schemeClr val="bg2"/>
          </a:solidFill>
          <a:ln w="6350">
            <a:solidFill>
              <a:schemeClr val="bg2"/>
            </a:solidFill>
            <a:prstDash val="solid"/>
          </a:ln>
        </p:spPr>
      </p:sp>
      <p:sp>
        <p:nvSpPr>
          <p:cNvPr id="14" name="Text 85"/>
          <p:cNvSpPr txBox="1"/>
          <p:nvPr/>
        </p:nvSpPr>
        <p:spPr>
          <a:xfrm>
            <a:off x="777240" y="5029200"/>
            <a:ext cx="1874520" cy="896112"/>
          </a:xfrm>
          <a:prstGeom prst="rect">
            <a:avLst/>
          </a:prstGeom>
          <a:noFill/>
          <a:ln/>
        </p:spPr>
        <p:txBody>
          <a:bodyPr wrap="square" lIns="0" tIns="0" rIns="0" bIns="0" rtlCol="0" anchor="ctr"/>
          <a:lstStyle/>
          <a:p>
            <a:pPr algn="l" indent="0" marL="0">
              <a:buNone/>
            </a:pPr>
            <a:r>
              <a:rPr lang="en-US" sz="1600" b="1" dirty="0">
                <a:solidFill>
                  <a:schemeClr val="tx1"/>
                </a:solidFill>
              </a:rPr>
              <a:t>Deleted</a:t>
            </a:r>
            <a:endParaRPr lang="en-US" sz="1600" dirty="0"/>
          </a:p>
        </p:txBody>
      </p:sp>
      <p:sp>
        <p:nvSpPr>
          <p:cNvPr id="15" name="Text 86"/>
          <p:cNvSpPr txBox="1"/>
          <p:nvPr/>
        </p:nvSpPr>
        <p:spPr>
          <a:xfrm>
            <a:off x="2743200" y="5029200"/>
            <a:ext cx="2926080" cy="896112"/>
          </a:xfrm>
          <a:prstGeom prst="rect">
            <a:avLst/>
          </a:prstGeom>
          <a:noFill/>
          <a:ln/>
        </p:spPr>
        <p:txBody>
          <a:bodyPr wrap="square" lIns="0" tIns="0" rIns="0" bIns="0" rtlCol="0" anchor="ctr"/>
          <a:lstStyle/>
          <a:p>
            <a:pPr algn="l" indent="0" marL="0">
              <a:buNone/>
            </a:pPr>
            <a:r>
              <a:rPr lang="en-US" sz="1400" dirty="0">
                <a:solidFill>
                  <a:schemeClr val="tx2"/>
                </a:solidFill>
              </a:rPr>
              <a:t>Out of scope, a duplicate, or nothing new. There is no holding folder.</a:t>
            </a:r>
            <a:endParaRPr lang="en-US" sz="1400" dirty="0"/>
          </a:p>
        </p:txBody>
      </p:sp>
      <p:sp>
        <p:nvSpPr>
          <p:cNvPr id="16" name="Text 87"/>
          <p:cNvSpPr txBox="1"/>
          <p:nvPr/>
        </p:nvSpPr>
        <p:spPr>
          <a:xfrm>
            <a:off x="6281928" y="1463040"/>
            <a:ext cx="5358384" cy="365760"/>
          </a:xfrm>
          <a:prstGeom prst="rect">
            <a:avLst/>
          </a:prstGeom>
          <a:noFill/>
          <a:ln/>
        </p:spPr>
        <p:txBody>
          <a:bodyPr wrap="square" lIns="0" tIns="0" rIns="0" bIns="0" rtlCol="0" anchor="t"/>
          <a:lstStyle/>
          <a:p>
            <a:pPr algn="l" indent="0" marL="0">
              <a:buNone/>
            </a:pPr>
            <a:r>
              <a:rPr lang="en-US" sz="1800" b="1" dirty="0">
                <a:solidFill>
                  <a:schemeClr val="tx1"/>
                </a:solidFill>
              </a:rPr>
              <a:t>An admitted document is then</a:t>
            </a:r>
            <a:endParaRPr lang="en-US" sz="1800" dirty="0"/>
          </a:p>
        </p:txBody>
      </p:sp>
      <p:sp>
        <p:nvSpPr>
          <p:cNvPr id="17" name="Number 88"/>
          <p:cNvSpPr/>
          <p:nvPr/>
        </p:nvSpPr>
        <p:spPr>
          <a:xfrm>
            <a:off x="6281928" y="2084832"/>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8" name="Text 89"/>
          <p:cNvSpPr txBox="1"/>
          <p:nvPr/>
        </p:nvSpPr>
        <p:spPr>
          <a:xfrm>
            <a:off x="6848856" y="2048256"/>
            <a:ext cx="4791456" cy="329184"/>
          </a:xfrm>
          <a:prstGeom prst="rect">
            <a:avLst/>
          </a:prstGeom>
          <a:noFill/>
          <a:ln/>
        </p:spPr>
        <p:txBody>
          <a:bodyPr wrap="square" lIns="0" tIns="0" rIns="0" bIns="0" rtlCol="0" anchor="t"/>
          <a:lstStyle/>
          <a:p>
            <a:pPr algn="l" indent="0" marL="0">
              <a:buNone/>
            </a:pPr>
            <a:r>
              <a:rPr lang="en-US" sz="1600" b="1" dirty="0">
                <a:solidFill>
                  <a:schemeClr val="tx1"/>
                </a:solidFill>
              </a:rPr>
              <a:t>De-duplicated</a:t>
            </a:r>
            <a:endParaRPr lang="en-US" sz="1600" dirty="0"/>
          </a:p>
        </p:txBody>
      </p:sp>
      <p:sp>
        <p:nvSpPr>
          <p:cNvPr id="19" name="Text 90"/>
          <p:cNvSpPr txBox="1"/>
          <p:nvPr/>
        </p:nvSpPr>
        <p:spPr>
          <a:xfrm>
            <a:off x="6848856" y="2395728"/>
            <a:ext cx="4791456" cy="512064"/>
          </a:xfrm>
          <a:prstGeom prst="rect">
            <a:avLst/>
          </a:prstGeom>
          <a:noFill/>
          <a:ln/>
        </p:spPr>
        <p:txBody>
          <a:bodyPr wrap="square" lIns="0" tIns="0" rIns="0" bIns="0" rtlCol="0" anchor="t"/>
          <a:lstStyle/>
          <a:p>
            <a:pPr algn="l" indent="0" marL="0">
              <a:buNone/>
            </a:pPr>
            <a:r>
              <a:rPr lang="en-US" sz="1400" dirty="0">
                <a:solidFill>
                  <a:schemeClr val="tx2"/>
                </a:solidFill>
              </a:rPr>
              <a:t>Three tiers, cheapest first: exact address, near matches, then one judgement.</a:t>
            </a:r>
            <a:endParaRPr lang="en-US" sz="1400" dirty="0"/>
          </a:p>
        </p:txBody>
      </p:sp>
      <p:sp>
        <p:nvSpPr>
          <p:cNvPr id="20" name="Number 91"/>
          <p:cNvSpPr/>
          <p:nvPr/>
        </p:nvSpPr>
        <p:spPr>
          <a:xfrm>
            <a:off x="6281928" y="3090672"/>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1" name="Text 92"/>
          <p:cNvSpPr txBox="1"/>
          <p:nvPr/>
        </p:nvSpPr>
        <p:spPr>
          <a:xfrm>
            <a:off x="6848856" y="3054096"/>
            <a:ext cx="4791456" cy="329184"/>
          </a:xfrm>
          <a:prstGeom prst="rect">
            <a:avLst/>
          </a:prstGeom>
          <a:noFill/>
          <a:ln/>
        </p:spPr>
        <p:txBody>
          <a:bodyPr wrap="square" lIns="0" tIns="0" rIns="0" bIns="0" rtlCol="0" anchor="t"/>
          <a:lstStyle/>
          <a:p>
            <a:pPr algn="l" indent="0" marL="0">
              <a:buNone/>
            </a:pPr>
            <a:r>
              <a:rPr lang="en-US" sz="1600" b="1" dirty="0">
                <a:solidFill>
                  <a:schemeClr val="tx1"/>
                </a:solidFill>
              </a:rPr>
              <a:t>Classified</a:t>
            </a:r>
            <a:endParaRPr lang="en-US" sz="1600" dirty="0"/>
          </a:p>
        </p:txBody>
      </p:sp>
      <p:sp>
        <p:nvSpPr>
          <p:cNvPr id="22" name="Text 93"/>
          <p:cNvSpPr txBox="1"/>
          <p:nvPr/>
        </p:nvSpPr>
        <p:spPr>
          <a:xfrm>
            <a:off x="6848856" y="3401568"/>
            <a:ext cx="4791456" cy="512064"/>
          </a:xfrm>
          <a:prstGeom prst="rect">
            <a:avLst/>
          </a:prstGeom>
          <a:noFill/>
          <a:ln/>
        </p:spPr>
        <p:txBody>
          <a:bodyPr wrap="square" lIns="0" tIns="0" rIns="0" bIns="0" rtlCol="0" anchor="t"/>
          <a:lstStyle/>
          <a:p>
            <a:pPr algn="l" indent="0" marL="0">
              <a:buNone/>
            </a:pPr>
            <a:r>
              <a:rPr lang="en-US" sz="1400" dirty="0">
                <a:solidFill>
                  <a:schemeClr val="tx2"/>
                </a:solidFill>
              </a:rPr>
              <a:t>By place, topic and three to six actors, from controlled vocabularies.</a:t>
            </a:r>
            <a:endParaRPr lang="en-US" sz="1400" dirty="0"/>
          </a:p>
        </p:txBody>
      </p:sp>
      <p:sp>
        <p:nvSpPr>
          <p:cNvPr id="23" name="Number 94"/>
          <p:cNvSpPr/>
          <p:nvPr/>
        </p:nvSpPr>
        <p:spPr>
          <a:xfrm>
            <a:off x="6281928" y="4096512"/>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4" name="Text 95"/>
          <p:cNvSpPr txBox="1"/>
          <p:nvPr/>
        </p:nvSpPr>
        <p:spPr>
          <a:xfrm>
            <a:off x="6848856" y="4059936"/>
            <a:ext cx="4791456" cy="329184"/>
          </a:xfrm>
          <a:prstGeom prst="rect">
            <a:avLst/>
          </a:prstGeom>
          <a:noFill/>
          <a:ln/>
        </p:spPr>
        <p:txBody>
          <a:bodyPr wrap="square" lIns="0" tIns="0" rIns="0" bIns="0" rtlCol="0" anchor="t"/>
          <a:lstStyle/>
          <a:p>
            <a:pPr algn="l" indent="0" marL="0">
              <a:buNone/>
            </a:pPr>
            <a:r>
              <a:rPr lang="en-US" sz="1600" b="1" dirty="0">
                <a:solidFill>
                  <a:schemeClr val="tx1"/>
                </a:solidFill>
              </a:rPr>
              <a:t>Given one sentence</a:t>
            </a:r>
            <a:endParaRPr lang="en-US" sz="1600" dirty="0"/>
          </a:p>
        </p:txBody>
      </p:sp>
      <p:sp>
        <p:nvSpPr>
          <p:cNvPr id="25" name="Text 96"/>
          <p:cNvSpPr txBox="1"/>
          <p:nvPr/>
        </p:nvSpPr>
        <p:spPr>
          <a:xfrm>
            <a:off x="6848856" y="4407408"/>
            <a:ext cx="4791456" cy="512064"/>
          </a:xfrm>
          <a:prstGeom prst="rect">
            <a:avLst/>
          </a:prstGeom>
          <a:noFill/>
          <a:ln/>
        </p:spPr>
        <p:txBody>
          <a:bodyPr wrap="square" lIns="0" tIns="0" rIns="0" bIns="0" rtlCol="0" anchor="t"/>
          <a:lstStyle/>
          <a:p>
            <a:pPr algn="l" indent="0" marL="0">
              <a:buNone/>
            </a:pPr>
            <a:r>
              <a:rPr lang="en-US" sz="1400" dirty="0">
                <a:solidFill>
                  <a:schemeClr val="tx2"/>
                </a:solidFill>
              </a:rPr>
              <a:t>A single dated claim, written once with the full text in hand.</a:t>
            </a:r>
            <a:endParaRPr lang="en-US" sz="1400" dirty="0"/>
          </a:p>
        </p:txBody>
      </p:sp>
      <p:sp>
        <p:nvSpPr>
          <p:cNvPr id="26" name="Number 97"/>
          <p:cNvSpPr/>
          <p:nvPr/>
        </p:nvSpPr>
        <p:spPr>
          <a:xfrm>
            <a:off x="6281928" y="5102352"/>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7" name="Text 98"/>
          <p:cNvSpPr txBox="1"/>
          <p:nvPr/>
        </p:nvSpPr>
        <p:spPr>
          <a:xfrm>
            <a:off x="6848856" y="5065776"/>
            <a:ext cx="4791456" cy="329184"/>
          </a:xfrm>
          <a:prstGeom prst="rect">
            <a:avLst/>
          </a:prstGeom>
          <a:noFill/>
          <a:ln/>
        </p:spPr>
        <p:txBody>
          <a:bodyPr wrap="square" lIns="0" tIns="0" rIns="0" bIns="0" rtlCol="0" anchor="t"/>
          <a:lstStyle/>
          <a:p>
            <a:pPr algn="l" indent="0" marL="0">
              <a:buNone/>
            </a:pPr>
            <a:r>
              <a:rPr lang="en-US" sz="1600" b="1" dirty="0">
                <a:solidFill>
                  <a:schemeClr val="tx1"/>
                </a:solidFill>
              </a:rPr>
              <a:t>Tested, if it is money</a:t>
            </a:r>
            <a:endParaRPr lang="en-US" sz="1600" dirty="0"/>
          </a:p>
        </p:txBody>
      </p:sp>
      <p:sp>
        <p:nvSpPr>
          <p:cNvPr id="28" name="Text 99"/>
          <p:cNvSpPr txBox="1"/>
          <p:nvPr/>
        </p:nvSpPr>
        <p:spPr>
          <a:xfrm>
            <a:off x="6848856" y="5413248"/>
            <a:ext cx="4791456" cy="512064"/>
          </a:xfrm>
          <a:prstGeom prst="rect">
            <a:avLst/>
          </a:prstGeom>
          <a:noFill/>
          <a:ln/>
        </p:spPr>
        <p:txBody>
          <a:bodyPr wrap="square" lIns="0" tIns="0" rIns="0" bIns="0" rtlCol="0" anchor="t"/>
          <a:lstStyle/>
          <a:p>
            <a:pPr algn="l" indent="0" marL="0">
              <a:buNone/>
            </a:pPr>
            <a:r>
              <a:rPr lang="en-US" sz="1400" dirty="0">
                <a:solidFill>
                  <a:schemeClr val="tx2"/>
                </a:solidFill>
              </a:rPr>
              <a:t>Financier, recipient, amount, date, purpose: five facts, or it stays out of every total.</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Processing: from evidence to dated editions</a:t>
            </a:r>
            <a:endParaRPr lang="en-US" sz="3400" dirty="0"/>
          </a:p>
        </p:txBody>
      </p:sp>
      <p:sp>
        <p:nvSpPr>
          <p:cNvPr id="3" name="Card 100"/>
          <p:cNvSpPr/>
          <p:nvPr/>
        </p:nvSpPr>
        <p:spPr>
          <a:xfrm>
            <a:off x="548640" y="1508760"/>
            <a:ext cx="2011680" cy="2834640"/>
          </a:xfrm>
          <a:prstGeom prst="roundRect">
            <a:avLst>
              <a:gd name="adj" fmla="val 3636"/>
            </a:avLst>
          </a:prstGeom>
          <a:solidFill>
            <a:schemeClr val="bg2"/>
          </a:solidFill>
          <a:ln w="6350">
            <a:solidFill>
              <a:schemeClr val="bg2"/>
            </a:solidFill>
            <a:prstDash val="solid"/>
          </a:ln>
        </p:spPr>
      </p:sp>
      <p:sp>
        <p:nvSpPr>
          <p:cNvPr id="4" name="Number 101"/>
          <p:cNvSpPr/>
          <p:nvPr/>
        </p:nvSpPr>
        <p:spPr>
          <a:xfrm>
            <a:off x="731520" y="1691640"/>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102"/>
          <p:cNvSpPr txBox="1"/>
          <p:nvPr/>
        </p:nvSpPr>
        <p:spPr>
          <a:xfrm>
            <a:off x="731520" y="2240280"/>
            <a:ext cx="1645920" cy="566928"/>
          </a:xfrm>
          <a:prstGeom prst="rect">
            <a:avLst/>
          </a:prstGeom>
          <a:noFill/>
          <a:ln/>
        </p:spPr>
        <p:txBody>
          <a:bodyPr wrap="square" lIns="0" tIns="0" rIns="0" bIns="0" rtlCol="0" anchor="t"/>
          <a:lstStyle/>
          <a:p>
            <a:pPr algn="l" indent="0" marL="0">
              <a:buNone/>
            </a:pPr>
            <a:r>
              <a:rPr lang="en-US" sz="1600" b="1" dirty="0">
                <a:solidFill>
                  <a:schemeClr val="tx1"/>
                </a:solidFill>
              </a:rPr>
              <a:t>Notice the close</a:t>
            </a:r>
            <a:endParaRPr lang="en-US" sz="1600" dirty="0"/>
          </a:p>
        </p:txBody>
      </p:sp>
      <p:sp>
        <p:nvSpPr>
          <p:cNvPr id="6" name="Text 103"/>
          <p:cNvSpPr txBox="1"/>
          <p:nvPr/>
        </p:nvSpPr>
        <p:spPr>
          <a:xfrm>
            <a:off x="731520" y="2834640"/>
            <a:ext cx="1645920" cy="1417320"/>
          </a:xfrm>
          <a:prstGeom prst="rect">
            <a:avLst/>
          </a:prstGeom>
          <a:noFill/>
          <a:ln/>
        </p:spPr>
        <p:txBody>
          <a:bodyPr wrap="square" lIns="0" tIns="0" rIns="0" bIns="0" rtlCol="0" anchor="t"/>
          <a:lstStyle/>
          <a:p>
            <a:pPr algn="l" indent="0" marL="0">
              <a:buNone/>
            </a:pPr>
            <a:r>
              <a:rPr lang="en-US" sz="1400" dirty="0">
                <a:solidFill>
                  <a:schemeClr val="tx2"/>
                </a:solidFill>
              </a:rPr>
              <a:t>A finished collection cycle starts the build. Notes from the other side are worked first.</a:t>
            </a:r>
            <a:endParaRPr lang="en-US" sz="1400" dirty="0"/>
          </a:p>
        </p:txBody>
      </p:sp>
      <p:sp>
        <p:nvSpPr>
          <p:cNvPr id="7" name="Arrow 104"/>
          <p:cNvSpPr/>
          <p:nvPr/>
        </p:nvSpPr>
        <p:spPr>
          <a:xfrm>
            <a:off x="2587752" y="1892808"/>
            <a:ext cx="201168" cy="0"/>
          </a:xfrm>
          <a:prstGeom prst="line">
            <a:avLst/>
          </a:prstGeom>
          <a:noFill/>
          <a:ln w="22225">
            <a:solidFill>
              <a:schemeClr val="accent5"/>
            </a:solidFill>
            <a:prstDash val="solid"/>
            <a:tailEnd type="triangle"/>
          </a:ln>
        </p:spPr>
      </p:sp>
      <p:sp>
        <p:nvSpPr>
          <p:cNvPr id="8" name="Card 105"/>
          <p:cNvSpPr/>
          <p:nvPr/>
        </p:nvSpPr>
        <p:spPr>
          <a:xfrm>
            <a:off x="2816352" y="1508760"/>
            <a:ext cx="2011680" cy="2834640"/>
          </a:xfrm>
          <a:prstGeom prst="roundRect">
            <a:avLst>
              <a:gd name="adj" fmla="val 3636"/>
            </a:avLst>
          </a:prstGeom>
          <a:solidFill>
            <a:schemeClr val="bg2"/>
          </a:solidFill>
          <a:ln w="6350">
            <a:solidFill>
              <a:schemeClr val="bg2"/>
            </a:solidFill>
            <a:prstDash val="solid"/>
          </a:ln>
        </p:spPr>
      </p:sp>
      <p:sp>
        <p:nvSpPr>
          <p:cNvPr id="9" name="Number 106"/>
          <p:cNvSpPr/>
          <p:nvPr/>
        </p:nvSpPr>
        <p:spPr>
          <a:xfrm>
            <a:off x="2999232" y="1691640"/>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107"/>
          <p:cNvSpPr txBox="1"/>
          <p:nvPr/>
        </p:nvSpPr>
        <p:spPr>
          <a:xfrm>
            <a:off x="2999232" y="2240280"/>
            <a:ext cx="1645920" cy="566928"/>
          </a:xfrm>
          <a:prstGeom prst="rect">
            <a:avLst/>
          </a:prstGeom>
          <a:noFill/>
          <a:ln/>
        </p:spPr>
        <p:txBody>
          <a:bodyPr wrap="square" lIns="0" tIns="0" rIns="0" bIns="0" rtlCol="0" anchor="t"/>
          <a:lstStyle/>
          <a:p>
            <a:pPr algn="l" indent="0" marL="0">
              <a:buNone/>
            </a:pPr>
            <a:r>
              <a:rPr lang="en-US" sz="1600" b="1" dirty="0">
                <a:solidFill>
                  <a:schemeClr val="tx1"/>
                </a:solidFill>
              </a:rPr>
              <a:t>Rebuild the datasets</a:t>
            </a:r>
            <a:endParaRPr lang="en-US" sz="1600" dirty="0"/>
          </a:p>
        </p:txBody>
      </p:sp>
      <p:sp>
        <p:nvSpPr>
          <p:cNvPr id="11" name="Text 108"/>
          <p:cNvSpPr txBox="1"/>
          <p:nvPr/>
        </p:nvSpPr>
        <p:spPr>
          <a:xfrm>
            <a:off x="2999232" y="2834640"/>
            <a:ext cx="1645920" cy="1417320"/>
          </a:xfrm>
          <a:prstGeom prst="rect">
            <a:avLst/>
          </a:prstGeom>
          <a:noFill/>
          <a:ln/>
        </p:spPr>
        <p:txBody>
          <a:bodyPr wrap="square" lIns="0" tIns="0" rIns="0" bIns="0" rtlCol="0" anchor="t"/>
          <a:lstStyle/>
          <a:p>
            <a:pPr algn="l" indent="0" marL="0">
              <a:buNone/>
            </a:pPr>
            <a:r>
              <a:rPr lang="en-US" sz="1400" dirty="0">
                <a:solidFill>
                  <a:schemeClr val="tx2"/>
                </a:solidFill>
              </a:rPr>
              <a:t>The catalogue, finance and budget tables are recompiled. Purely mechanical.</a:t>
            </a:r>
            <a:endParaRPr lang="en-US" sz="1400" dirty="0"/>
          </a:p>
        </p:txBody>
      </p:sp>
      <p:sp>
        <p:nvSpPr>
          <p:cNvPr id="12" name="Arrow 109"/>
          <p:cNvSpPr/>
          <p:nvPr/>
        </p:nvSpPr>
        <p:spPr>
          <a:xfrm>
            <a:off x="4855464" y="1892808"/>
            <a:ext cx="201168" cy="0"/>
          </a:xfrm>
          <a:prstGeom prst="line">
            <a:avLst/>
          </a:prstGeom>
          <a:noFill/>
          <a:ln w="22225">
            <a:solidFill>
              <a:schemeClr val="accent5"/>
            </a:solidFill>
            <a:prstDash val="solid"/>
            <a:tailEnd type="triangle"/>
          </a:ln>
        </p:spPr>
      </p:sp>
      <p:sp>
        <p:nvSpPr>
          <p:cNvPr id="13" name="Card 110"/>
          <p:cNvSpPr/>
          <p:nvPr/>
        </p:nvSpPr>
        <p:spPr>
          <a:xfrm>
            <a:off x="5084064" y="1508760"/>
            <a:ext cx="2011680" cy="2834640"/>
          </a:xfrm>
          <a:prstGeom prst="roundRect">
            <a:avLst>
              <a:gd name="adj" fmla="val 3636"/>
            </a:avLst>
          </a:prstGeom>
          <a:solidFill>
            <a:schemeClr val="bg2"/>
          </a:solidFill>
          <a:ln w="6350">
            <a:solidFill>
              <a:schemeClr val="bg2"/>
            </a:solidFill>
            <a:prstDash val="solid"/>
          </a:ln>
        </p:spPr>
      </p:sp>
      <p:sp>
        <p:nvSpPr>
          <p:cNvPr id="14" name="Number 111"/>
          <p:cNvSpPr/>
          <p:nvPr/>
        </p:nvSpPr>
        <p:spPr>
          <a:xfrm>
            <a:off x="5266944" y="1691640"/>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Text 112"/>
          <p:cNvSpPr txBox="1"/>
          <p:nvPr/>
        </p:nvSpPr>
        <p:spPr>
          <a:xfrm>
            <a:off x="5266944" y="2240280"/>
            <a:ext cx="1645920" cy="566928"/>
          </a:xfrm>
          <a:prstGeom prst="rect">
            <a:avLst/>
          </a:prstGeom>
          <a:noFill/>
          <a:ln/>
        </p:spPr>
        <p:txBody>
          <a:bodyPr wrap="square" lIns="0" tIns="0" rIns="0" bIns="0" rtlCol="0" anchor="t"/>
          <a:lstStyle/>
          <a:p>
            <a:pPr algn="l" indent="0" marL="0">
              <a:buNone/>
            </a:pPr>
            <a:r>
              <a:rPr lang="en-US" sz="1600" b="1" dirty="0">
                <a:solidFill>
                  <a:schemeClr val="tx1"/>
                </a:solidFill>
              </a:rPr>
              <a:t>Read the news</a:t>
            </a:r>
            <a:endParaRPr lang="en-US" sz="1600" dirty="0"/>
          </a:p>
        </p:txBody>
      </p:sp>
      <p:sp>
        <p:nvSpPr>
          <p:cNvPr id="16" name="Text 113"/>
          <p:cNvSpPr txBox="1"/>
          <p:nvPr/>
        </p:nvSpPr>
        <p:spPr>
          <a:xfrm>
            <a:off x="5266944" y="2834640"/>
            <a:ext cx="1645920" cy="1417320"/>
          </a:xfrm>
          <a:prstGeom prst="rect">
            <a:avLst/>
          </a:prstGeom>
          <a:noFill/>
          <a:ln/>
        </p:spPr>
        <p:txBody>
          <a:bodyPr wrap="square" lIns="0" tIns="0" rIns="0" bIns="0" rtlCol="0" anchor="t"/>
          <a:lstStyle/>
          <a:p>
            <a:pPr algn="l" indent="0" marL="0">
              <a:buNone/>
            </a:pPr>
            <a:r>
              <a:rPr lang="en-US" sz="1400" dirty="0">
                <a:solidFill>
                  <a:schemeClr val="tx2"/>
                </a:solidFill>
              </a:rPr>
              <a:t>New sources are read against each country’s ledger. Mostly, nothing moves.</a:t>
            </a:r>
            <a:endParaRPr lang="en-US" sz="1400" dirty="0"/>
          </a:p>
        </p:txBody>
      </p:sp>
      <p:sp>
        <p:nvSpPr>
          <p:cNvPr id="17" name="Arrow 114"/>
          <p:cNvSpPr/>
          <p:nvPr/>
        </p:nvSpPr>
        <p:spPr>
          <a:xfrm>
            <a:off x="7123176" y="1892808"/>
            <a:ext cx="201168" cy="0"/>
          </a:xfrm>
          <a:prstGeom prst="line">
            <a:avLst/>
          </a:prstGeom>
          <a:noFill/>
          <a:ln w="22225">
            <a:solidFill>
              <a:schemeClr val="accent5"/>
            </a:solidFill>
            <a:prstDash val="solid"/>
            <a:tailEnd type="triangle"/>
          </a:ln>
        </p:spPr>
      </p:sp>
      <p:sp>
        <p:nvSpPr>
          <p:cNvPr id="18" name="Card 115"/>
          <p:cNvSpPr/>
          <p:nvPr/>
        </p:nvSpPr>
        <p:spPr>
          <a:xfrm>
            <a:off x="7351776" y="1508760"/>
            <a:ext cx="2011680" cy="2834640"/>
          </a:xfrm>
          <a:prstGeom prst="roundRect">
            <a:avLst>
              <a:gd name="adj" fmla="val 3636"/>
            </a:avLst>
          </a:prstGeom>
          <a:solidFill>
            <a:schemeClr val="bg2"/>
          </a:solidFill>
          <a:ln w="6350">
            <a:solidFill>
              <a:schemeClr val="bg2"/>
            </a:solidFill>
            <a:prstDash val="solid"/>
          </a:ln>
        </p:spPr>
      </p:sp>
      <p:sp>
        <p:nvSpPr>
          <p:cNvPr id="19" name="Number 116"/>
          <p:cNvSpPr/>
          <p:nvPr/>
        </p:nvSpPr>
        <p:spPr>
          <a:xfrm>
            <a:off x="7534656" y="1691640"/>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0" name="Text 117"/>
          <p:cNvSpPr txBox="1"/>
          <p:nvPr/>
        </p:nvSpPr>
        <p:spPr>
          <a:xfrm>
            <a:off x="7534656" y="2240280"/>
            <a:ext cx="1645920" cy="566928"/>
          </a:xfrm>
          <a:prstGeom prst="rect">
            <a:avLst/>
          </a:prstGeom>
          <a:noFill/>
          <a:ln/>
        </p:spPr>
        <p:txBody>
          <a:bodyPr wrap="square" lIns="0" tIns="0" rIns="0" bIns="0" rtlCol="0" anchor="t"/>
          <a:lstStyle/>
          <a:p>
            <a:pPr algn="l" indent="0" marL="0">
              <a:buNone/>
            </a:pPr>
            <a:r>
              <a:rPr lang="en-US" sz="1600" b="1" dirty="0">
                <a:solidFill>
                  <a:schemeClr val="tx1"/>
                </a:solidFill>
              </a:rPr>
              <a:t>Check and typeset</a:t>
            </a:r>
            <a:endParaRPr lang="en-US" sz="1600" dirty="0"/>
          </a:p>
        </p:txBody>
      </p:sp>
      <p:sp>
        <p:nvSpPr>
          <p:cNvPr id="21" name="Text 118"/>
          <p:cNvSpPr txBox="1"/>
          <p:nvPr/>
        </p:nvSpPr>
        <p:spPr>
          <a:xfrm>
            <a:off x="7534656" y="2834640"/>
            <a:ext cx="1645920" cy="1417320"/>
          </a:xfrm>
          <a:prstGeom prst="rect">
            <a:avLst/>
          </a:prstGeom>
          <a:noFill/>
          <a:ln/>
        </p:spPr>
        <p:txBody>
          <a:bodyPr wrap="square" lIns="0" tIns="0" rIns="0" bIns="0" rtlCol="0" anchor="t"/>
          <a:lstStyle/>
          <a:p>
            <a:pPr algn="l" indent="0" marL="0">
              <a:buNone/>
            </a:pPr>
            <a:r>
              <a:rPr lang="en-US" sz="1400" dirty="0">
                <a:solidFill>
                  <a:schemeClr val="tx2"/>
                </a:solidFill>
              </a:rPr>
              <a:t>Links, vocabulary and citations are verified. Web page and PDF share one template.</a:t>
            </a:r>
            <a:endParaRPr lang="en-US" sz="1400" dirty="0"/>
          </a:p>
        </p:txBody>
      </p:sp>
      <p:sp>
        <p:nvSpPr>
          <p:cNvPr id="22" name="Arrow 119"/>
          <p:cNvSpPr/>
          <p:nvPr/>
        </p:nvSpPr>
        <p:spPr>
          <a:xfrm>
            <a:off x="9390888" y="1892808"/>
            <a:ext cx="201168" cy="0"/>
          </a:xfrm>
          <a:prstGeom prst="line">
            <a:avLst/>
          </a:prstGeom>
          <a:noFill/>
          <a:ln w="22225">
            <a:solidFill>
              <a:schemeClr val="accent5"/>
            </a:solidFill>
            <a:prstDash val="solid"/>
            <a:tailEnd type="triangle"/>
          </a:ln>
        </p:spPr>
      </p:sp>
      <p:sp>
        <p:nvSpPr>
          <p:cNvPr id="23" name="Card 120"/>
          <p:cNvSpPr/>
          <p:nvPr/>
        </p:nvSpPr>
        <p:spPr>
          <a:xfrm>
            <a:off x="9619488" y="1508760"/>
            <a:ext cx="2011680" cy="2834640"/>
          </a:xfrm>
          <a:prstGeom prst="roundRect">
            <a:avLst>
              <a:gd name="adj" fmla="val 3636"/>
            </a:avLst>
          </a:prstGeom>
          <a:solidFill>
            <a:schemeClr val="bg2"/>
          </a:solidFill>
          <a:ln w="6350">
            <a:solidFill>
              <a:schemeClr val="bg2"/>
            </a:solidFill>
            <a:prstDash val="solid"/>
          </a:ln>
        </p:spPr>
      </p:sp>
      <p:sp>
        <p:nvSpPr>
          <p:cNvPr id="24" name="Number 121"/>
          <p:cNvSpPr/>
          <p:nvPr/>
        </p:nvSpPr>
        <p:spPr>
          <a:xfrm>
            <a:off x="9802368" y="1691640"/>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5" name="Text 122"/>
          <p:cNvSpPr txBox="1"/>
          <p:nvPr/>
        </p:nvSpPr>
        <p:spPr>
          <a:xfrm>
            <a:off x="9802368" y="2240280"/>
            <a:ext cx="1645920" cy="566928"/>
          </a:xfrm>
          <a:prstGeom prst="rect">
            <a:avLst/>
          </a:prstGeom>
          <a:noFill/>
          <a:ln/>
        </p:spPr>
        <p:txBody>
          <a:bodyPr wrap="square" lIns="0" tIns="0" rIns="0" bIns="0" rtlCol="0" anchor="t"/>
          <a:lstStyle/>
          <a:p>
            <a:pPr algn="l" indent="0" marL="0">
              <a:buNone/>
            </a:pPr>
            <a:r>
              <a:rPr lang="en-US" sz="1600" b="1" dirty="0">
                <a:solidFill>
                  <a:schemeClr val="tx1"/>
                </a:solidFill>
              </a:rPr>
              <a:t>Publish</a:t>
            </a:r>
            <a:endParaRPr lang="en-US" sz="1600" dirty="0"/>
          </a:p>
        </p:txBody>
      </p:sp>
      <p:sp>
        <p:nvSpPr>
          <p:cNvPr id="26" name="Text 123"/>
          <p:cNvSpPr txBox="1"/>
          <p:nvPr/>
        </p:nvSpPr>
        <p:spPr>
          <a:xfrm>
            <a:off x="9802368" y="2834640"/>
            <a:ext cx="1645920" cy="1417320"/>
          </a:xfrm>
          <a:prstGeom prst="rect">
            <a:avLst/>
          </a:prstGeom>
          <a:noFill/>
          <a:ln/>
        </p:spPr>
        <p:txBody>
          <a:bodyPr wrap="square" lIns="0" tIns="0" rIns="0" bIns="0" rtlCol="0" anchor="t"/>
          <a:lstStyle/>
          <a:p>
            <a:pPr algn="l" indent="0" marL="0">
              <a:buNone/>
            </a:pPr>
            <a:r>
              <a:rPr lang="en-US" sz="1400" dirty="0">
                <a:solidFill>
                  <a:schemeClr val="tx2"/>
                </a:solidFill>
              </a:rPr>
              <a:t>A new edition is cut only where something changed. Then the site deploys.</a:t>
            </a:r>
            <a:endParaRPr lang="en-US" sz="1400" dirty="0"/>
          </a:p>
        </p:txBody>
      </p:sp>
      <p:sp>
        <p:nvSpPr>
          <p:cNvPr id="27" name="Card 124"/>
          <p:cNvSpPr/>
          <p:nvPr/>
        </p:nvSpPr>
        <p:spPr>
          <a:xfrm>
            <a:off x="548640" y="4572000"/>
            <a:ext cx="11091672" cy="868680"/>
          </a:xfrm>
          <a:prstGeom prst="roundRect">
            <a:avLst>
              <a:gd name="adj" fmla="val 8421"/>
            </a:avLst>
          </a:prstGeom>
          <a:solidFill>
            <a:schemeClr val="tx1"/>
          </a:solidFill>
          <a:ln w="6350">
            <a:solidFill>
              <a:schemeClr val="tx1"/>
            </a:solidFill>
            <a:prstDash val="solid"/>
          </a:ln>
        </p:spPr>
      </p:sp>
      <p:sp>
        <p:nvSpPr>
          <p:cNvPr id="28" name="Text 125"/>
          <p:cNvSpPr txBox="1"/>
          <p:nvPr/>
        </p:nvSpPr>
        <p:spPr>
          <a:xfrm>
            <a:off x="822960" y="4572000"/>
            <a:ext cx="10543032" cy="868680"/>
          </a:xfrm>
          <a:prstGeom prst="rect">
            <a:avLst/>
          </a:prstGeom>
          <a:noFill/>
          <a:ln/>
        </p:spPr>
        <p:txBody>
          <a:bodyPr wrap="square" lIns="0" tIns="0" rIns="0" bIns="0" rtlCol="0" anchor="ctr"/>
          <a:lstStyle/>
          <a:p>
            <a:pPr algn="l" indent="0" marL="0">
              <a:buNone/>
            </a:pPr>
            <a:r>
              <a:rPr lang="en-US" sz="1900" b="1" dirty="0">
                <a:solidFill>
                  <a:schemeClr val="bg1"/>
                </a:solidFill>
              </a:rPr>
              <a:t>A published edition is never revised. A correction is a new edition that says what changed.</a:t>
            </a:r>
            <a:endParaRPr lang="en-US" sz="1900" dirty="0"/>
          </a:p>
        </p:txBody>
      </p:sp>
      <p:sp>
        <p:nvSpPr>
          <p:cNvPr id="29" name="Text 126"/>
          <p:cNvSpPr txBox="1"/>
          <p:nvPr/>
        </p:nvSpPr>
        <p:spPr>
          <a:xfrm>
            <a:off x="548640" y="5623560"/>
            <a:ext cx="11091672" cy="457200"/>
          </a:xfrm>
          <a:prstGeom prst="rect">
            <a:avLst/>
          </a:prstGeom>
          <a:noFill/>
          <a:ln/>
        </p:spPr>
        <p:txBody>
          <a:bodyPr wrap="square" lIns="0" tIns="0" rIns="0" bIns="0" rtlCol="0" anchor="ctr"/>
          <a:lstStyle/>
          <a:p>
            <a:pPr algn="l" indent="0" marL="0">
              <a:buNone/>
            </a:pPr>
            <a:r>
              <a:rPr lang="en-US" sz="1200" dirty="0">
                <a:solidFill>
                  <a:schemeClr val="accent5"/>
                </a:solidFill>
              </a:rPr>
              <a:t>The build takes 23 to 39 minutes and the render 13 to 15 (measured 1 October 2026). Nothing is generated when a reader asks for a page.</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Quality control: five layers, mostly automatic</a:t>
            </a:r>
            <a:endParaRPr lang="en-US" sz="3400" dirty="0"/>
          </a:p>
        </p:txBody>
      </p:sp>
      <p:sp>
        <p:nvSpPr>
          <p:cNvPr id="3" name="Card 127"/>
          <p:cNvSpPr/>
          <p:nvPr/>
        </p:nvSpPr>
        <p:spPr>
          <a:xfrm>
            <a:off x="548640" y="1508760"/>
            <a:ext cx="11091672" cy="822960"/>
          </a:xfrm>
          <a:prstGeom prst="roundRect">
            <a:avLst>
              <a:gd name="adj" fmla="val 8889"/>
            </a:avLst>
          </a:prstGeom>
          <a:solidFill>
            <a:schemeClr val="bg2"/>
          </a:solidFill>
          <a:ln w="6350">
            <a:solidFill>
              <a:schemeClr val="bg2"/>
            </a:solidFill>
            <a:prstDash val="solid"/>
          </a:ln>
        </p:spPr>
      </p:sp>
      <p:sp>
        <p:nvSpPr>
          <p:cNvPr id="4" name="Number 128"/>
          <p:cNvSpPr/>
          <p:nvPr/>
        </p:nvSpPr>
        <p:spPr>
          <a:xfrm>
            <a:off x="749808" y="1719072"/>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129"/>
          <p:cNvSpPr txBox="1"/>
          <p:nvPr/>
        </p:nvSpPr>
        <p:spPr>
          <a:xfrm>
            <a:off x="1371600" y="1508760"/>
            <a:ext cx="2377440" cy="822960"/>
          </a:xfrm>
          <a:prstGeom prst="rect">
            <a:avLst/>
          </a:prstGeom>
          <a:noFill/>
          <a:ln/>
        </p:spPr>
        <p:txBody>
          <a:bodyPr wrap="square" lIns="0" tIns="0" rIns="0" bIns="0" rtlCol="0" anchor="ctr"/>
          <a:lstStyle/>
          <a:p>
            <a:pPr algn="l" indent="0" marL="0">
              <a:buNone/>
            </a:pPr>
            <a:r>
              <a:rPr lang="en-US" sz="1700" b="1" dirty="0">
                <a:solidFill>
                  <a:schemeClr val="tx1"/>
                </a:solidFill>
              </a:rPr>
              <a:t>At the door</a:t>
            </a:r>
            <a:endParaRPr lang="en-US" sz="1700" dirty="0"/>
          </a:p>
        </p:txBody>
      </p:sp>
      <p:sp>
        <p:nvSpPr>
          <p:cNvPr id="6" name="Text 130"/>
          <p:cNvSpPr txBox="1"/>
          <p:nvPr/>
        </p:nvSpPr>
        <p:spPr>
          <a:xfrm>
            <a:off x="3840480" y="1508760"/>
            <a:ext cx="7571232" cy="822960"/>
          </a:xfrm>
          <a:prstGeom prst="rect">
            <a:avLst/>
          </a:prstGeom>
          <a:noFill/>
          <a:ln/>
        </p:spPr>
        <p:txBody>
          <a:bodyPr wrap="square" lIns="0" tIns="0" rIns="0" bIns="0" rtlCol="0" anchor="ctr"/>
          <a:lstStyle/>
          <a:p>
            <a:pPr algn="l" indent="0" marL="0">
              <a:buNone/>
            </a:pPr>
            <a:r>
              <a:rPr lang="en-US" sz="1400" dirty="0">
                <a:solidFill>
                  <a:schemeClr val="tx2"/>
                </a:solidFill>
              </a:rPr>
              <a:t>Primary sources only. Subject and place must both be in scope. Hostile origins are screened out, and AI summaries are leads, never sources.</a:t>
            </a:r>
            <a:endParaRPr lang="en-US" sz="1400" dirty="0"/>
          </a:p>
        </p:txBody>
      </p:sp>
      <p:sp>
        <p:nvSpPr>
          <p:cNvPr id="7" name="Card 131"/>
          <p:cNvSpPr/>
          <p:nvPr/>
        </p:nvSpPr>
        <p:spPr>
          <a:xfrm>
            <a:off x="548640" y="2423160"/>
            <a:ext cx="11091672" cy="822960"/>
          </a:xfrm>
          <a:prstGeom prst="roundRect">
            <a:avLst>
              <a:gd name="adj" fmla="val 8889"/>
            </a:avLst>
          </a:prstGeom>
          <a:solidFill>
            <a:schemeClr val="bg2"/>
          </a:solidFill>
          <a:ln w="6350">
            <a:solidFill>
              <a:schemeClr val="bg2"/>
            </a:solidFill>
            <a:prstDash val="solid"/>
          </a:ln>
        </p:spPr>
      </p:sp>
      <p:sp>
        <p:nvSpPr>
          <p:cNvPr id="8" name="Number 132"/>
          <p:cNvSpPr/>
          <p:nvPr/>
        </p:nvSpPr>
        <p:spPr>
          <a:xfrm>
            <a:off x="749808" y="2633472"/>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133"/>
          <p:cNvSpPr txBox="1"/>
          <p:nvPr/>
        </p:nvSpPr>
        <p:spPr>
          <a:xfrm>
            <a:off x="1371600" y="2423160"/>
            <a:ext cx="2377440" cy="822960"/>
          </a:xfrm>
          <a:prstGeom prst="rect">
            <a:avLst/>
          </a:prstGeom>
          <a:noFill/>
          <a:ln/>
        </p:spPr>
        <p:txBody>
          <a:bodyPr wrap="square" lIns="0" tIns="0" rIns="0" bIns="0" rtlCol="0" anchor="ctr"/>
          <a:lstStyle/>
          <a:p>
            <a:pPr algn="l" indent="0" marL="0">
              <a:buNone/>
            </a:pPr>
            <a:r>
              <a:rPr lang="en-US" sz="1700" b="1" dirty="0">
                <a:solidFill>
                  <a:schemeClr val="tx1"/>
                </a:solidFill>
              </a:rPr>
              <a:t>On every run</a:t>
            </a:r>
            <a:endParaRPr lang="en-US" sz="1700" dirty="0"/>
          </a:p>
        </p:txBody>
      </p:sp>
      <p:sp>
        <p:nvSpPr>
          <p:cNvPr id="10" name="Text 134"/>
          <p:cNvSpPr txBox="1"/>
          <p:nvPr/>
        </p:nvSpPr>
        <p:spPr>
          <a:xfrm>
            <a:off x="3840480" y="2423160"/>
            <a:ext cx="7571232" cy="822960"/>
          </a:xfrm>
          <a:prstGeom prst="rect">
            <a:avLst/>
          </a:prstGeom>
          <a:noFill/>
          <a:ln/>
        </p:spPr>
        <p:txBody>
          <a:bodyPr wrap="square" lIns="0" tIns="0" rIns="0" bIns="0" rtlCol="0" anchor="ctr"/>
          <a:lstStyle/>
          <a:p>
            <a:pPr algn="l" indent="0" marL="0">
              <a:buNone/>
            </a:pPr>
            <a:r>
              <a:rPr lang="en-US" sz="1400" dirty="0">
                <a:solidFill>
                  <a:schemeClr val="tx2"/>
                </a:solidFill>
              </a:rPr>
              <a:t>About thirty checks on the collection side, and link, vocabulary and citation checks before any report is typeset. Most make the repair themselves.</a:t>
            </a:r>
            <a:endParaRPr lang="en-US" sz="1400" dirty="0"/>
          </a:p>
        </p:txBody>
      </p:sp>
      <p:sp>
        <p:nvSpPr>
          <p:cNvPr id="11" name="Card 135"/>
          <p:cNvSpPr/>
          <p:nvPr/>
        </p:nvSpPr>
        <p:spPr>
          <a:xfrm>
            <a:off x="548640" y="3337560"/>
            <a:ext cx="11091672" cy="822960"/>
          </a:xfrm>
          <a:prstGeom prst="roundRect">
            <a:avLst>
              <a:gd name="adj" fmla="val 8889"/>
            </a:avLst>
          </a:prstGeom>
          <a:solidFill>
            <a:schemeClr val="bg2"/>
          </a:solidFill>
          <a:ln w="6350">
            <a:solidFill>
              <a:schemeClr val="bg2"/>
            </a:solidFill>
            <a:prstDash val="solid"/>
          </a:ln>
        </p:spPr>
      </p:sp>
      <p:sp>
        <p:nvSpPr>
          <p:cNvPr id="12" name="Number 136"/>
          <p:cNvSpPr/>
          <p:nvPr/>
        </p:nvSpPr>
        <p:spPr>
          <a:xfrm>
            <a:off x="749808" y="3547872"/>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37"/>
          <p:cNvSpPr txBox="1"/>
          <p:nvPr/>
        </p:nvSpPr>
        <p:spPr>
          <a:xfrm>
            <a:off x="1371600" y="3337560"/>
            <a:ext cx="2377440" cy="822960"/>
          </a:xfrm>
          <a:prstGeom prst="rect">
            <a:avLst/>
          </a:prstGeom>
          <a:noFill/>
          <a:ln/>
        </p:spPr>
        <p:txBody>
          <a:bodyPr wrap="square" lIns="0" tIns="0" rIns="0" bIns="0" rtlCol="0" anchor="ctr"/>
          <a:lstStyle/>
          <a:p>
            <a:pPr algn="l" indent="0" marL="0">
              <a:buNone/>
            </a:pPr>
            <a:r>
              <a:rPr lang="en-US" sz="1700" b="1" dirty="0">
                <a:solidFill>
                  <a:schemeClr val="tx1"/>
                </a:solidFill>
              </a:rPr>
              <a:t>When sources disagree</a:t>
            </a:r>
            <a:endParaRPr lang="en-US" sz="1700" dirty="0"/>
          </a:p>
        </p:txBody>
      </p:sp>
      <p:sp>
        <p:nvSpPr>
          <p:cNvPr id="14" name="Text 138"/>
          <p:cNvSpPr txBox="1"/>
          <p:nvPr/>
        </p:nvSpPr>
        <p:spPr>
          <a:xfrm>
            <a:off x="3840480" y="3337560"/>
            <a:ext cx="7571232" cy="822960"/>
          </a:xfrm>
          <a:prstGeom prst="rect">
            <a:avLst/>
          </a:prstGeom>
          <a:noFill/>
          <a:ln/>
        </p:spPr>
        <p:txBody>
          <a:bodyPr wrap="square" lIns="0" tIns="0" rIns="0" bIns="0" rtlCol="0" anchor="ctr"/>
          <a:lstStyle/>
          <a:p>
            <a:pPr algn="l" indent="0" marL="0">
              <a:buNone/>
            </a:pPr>
            <a:r>
              <a:rPr lang="en-US" sz="1400" dirty="0">
                <a:solidFill>
                  <a:schemeClr val="tx2"/>
                </a:solidFill>
              </a:rPr>
              <a:t>Nothing is overwritten silently. A brief is opened and settled against the primary document, or the page says what is not established.</a:t>
            </a:r>
            <a:endParaRPr lang="en-US" sz="1400" dirty="0"/>
          </a:p>
        </p:txBody>
      </p:sp>
      <p:sp>
        <p:nvSpPr>
          <p:cNvPr id="15" name="Card 139"/>
          <p:cNvSpPr/>
          <p:nvPr/>
        </p:nvSpPr>
        <p:spPr>
          <a:xfrm>
            <a:off x="548640" y="4251960"/>
            <a:ext cx="11091672" cy="822960"/>
          </a:xfrm>
          <a:prstGeom prst="roundRect">
            <a:avLst>
              <a:gd name="adj" fmla="val 8889"/>
            </a:avLst>
          </a:prstGeom>
          <a:solidFill>
            <a:schemeClr val="bg2"/>
          </a:solidFill>
          <a:ln w="6350">
            <a:solidFill>
              <a:schemeClr val="bg2"/>
            </a:solidFill>
            <a:prstDash val="solid"/>
          </a:ln>
        </p:spPr>
      </p:sp>
      <p:sp>
        <p:nvSpPr>
          <p:cNvPr id="16" name="Number 140"/>
          <p:cNvSpPr/>
          <p:nvPr/>
        </p:nvSpPr>
        <p:spPr>
          <a:xfrm>
            <a:off x="749808" y="4462272"/>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Text 141"/>
          <p:cNvSpPr txBox="1"/>
          <p:nvPr/>
        </p:nvSpPr>
        <p:spPr>
          <a:xfrm>
            <a:off x="1371600" y="4251960"/>
            <a:ext cx="2377440" cy="822960"/>
          </a:xfrm>
          <a:prstGeom prst="rect">
            <a:avLst/>
          </a:prstGeom>
          <a:noFill/>
          <a:ln/>
        </p:spPr>
        <p:txBody>
          <a:bodyPr wrap="square" lIns="0" tIns="0" rIns="0" bIns="0" rtlCol="0" anchor="ctr"/>
          <a:lstStyle/>
          <a:p>
            <a:pPr algn="l" indent="0" marL="0">
              <a:buNone/>
            </a:pPr>
            <a:r>
              <a:rPr lang="en-US" sz="1700" b="1" dirty="0">
                <a:solidFill>
                  <a:schemeClr val="tx1"/>
                </a:solidFill>
              </a:rPr>
              <a:t>Every night</a:t>
            </a:r>
            <a:endParaRPr lang="en-US" sz="1700" dirty="0"/>
          </a:p>
        </p:txBody>
      </p:sp>
      <p:sp>
        <p:nvSpPr>
          <p:cNvPr id="18" name="Text 142"/>
          <p:cNvSpPr txBox="1"/>
          <p:nvPr/>
        </p:nvSpPr>
        <p:spPr>
          <a:xfrm>
            <a:off x="3840480" y="4251960"/>
            <a:ext cx="7571232" cy="822960"/>
          </a:xfrm>
          <a:prstGeom prst="rect">
            <a:avLst/>
          </a:prstGeom>
          <a:noFill/>
          <a:ln/>
        </p:spPr>
        <p:txBody>
          <a:bodyPr wrap="square" lIns="0" tIns="0" rIns="0" bIns="0" rtlCol="0" anchor="ctr"/>
          <a:lstStyle/>
          <a:p>
            <a:pPr algn="l" indent="0" marL="0">
              <a:buNone/>
            </a:pPr>
            <a:r>
              <a:rPr lang="en-US" sz="1400" dirty="0">
                <a:solidFill>
                  <a:schemeClr val="tx2"/>
                </a:solidFill>
              </a:rPr>
              <a:t>Two countries or regions have all their reports re-read whole against the evidence as it now stands, about once a month each.</a:t>
            </a:r>
            <a:endParaRPr lang="en-US" sz="1400" dirty="0"/>
          </a:p>
        </p:txBody>
      </p:sp>
      <p:sp>
        <p:nvSpPr>
          <p:cNvPr id="19" name="Card 143"/>
          <p:cNvSpPr/>
          <p:nvPr/>
        </p:nvSpPr>
        <p:spPr>
          <a:xfrm>
            <a:off x="548640" y="5166360"/>
            <a:ext cx="11091672" cy="822960"/>
          </a:xfrm>
          <a:prstGeom prst="roundRect">
            <a:avLst>
              <a:gd name="adj" fmla="val 8889"/>
            </a:avLst>
          </a:prstGeom>
          <a:solidFill>
            <a:schemeClr val="bg2"/>
          </a:solidFill>
          <a:ln w="6350">
            <a:solidFill>
              <a:schemeClr val="bg2"/>
            </a:solidFill>
            <a:prstDash val="solid"/>
          </a:ln>
        </p:spPr>
      </p:sp>
      <p:sp>
        <p:nvSpPr>
          <p:cNvPr id="20" name="Number 144"/>
          <p:cNvSpPr/>
          <p:nvPr/>
        </p:nvSpPr>
        <p:spPr>
          <a:xfrm>
            <a:off x="749808" y="5376672"/>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1" name="Text 145"/>
          <p:cNvSpPr txBox="1"/>
          <p:nvPr/>
        </p:nvSpPr>
        <p:spPr>
          <a:xfrm>
            <a:off x="1371600" y="5166360"/>
            <a:ext cx="2377440" cy="822960"/>
          </a:xfrm>
          <a:prstGeom prst="rect">
            <a:avLst/>
          </a:prstGeom>
          <a:noFill/>
          <a:ln/>
        </p:spPr>
        <p:txBody>
          <a:bodyPr wrap="square" lIns="0" tIns="0" rIns="0" bIns="0" rtlCol="0" anchor="ctr"/>
          <a:lstStyle/>
          <a:p>
            <a:pPr algn="l" indent="0" marL="0">
              <a:buNone/>
            </a:pPr>
            <a:r>
              <a:rPr lang="en-US" sz="1700" b="1" dirty="0">
                <a:solidFill>
                  <a:schemeClr val="tx1"/>
                </a:solidFill>
              </a:rPr>
              <a:t>In public</a:t>
            </a:r>
            <a:endParaRPr lang="en-US" sz="1700" dirty="0"/>
          </a:p>
        </p:txBody>
      </p:sp>
      <p:sp>
        <p:nvSpPr>
          <p:cNvPr id="22" name="Text 146"/>
          <p:cNvSpPr txBox="1"/>
          <p:nvPr/>
        </p:nvSpPr>
        <p:spPr>
          <a:xfrm>
            <a:off x="3840480" y="5166360"/>
            <a:ext cx="7571232" cy="822960"/>
          </a:xfrm>
          <a:prstGeom prst="rect">
            <a:avLst/>
          </a:prstGeom>
          <a:noFill/>
          <a:ln/>
        </p:spPr>
        <p:txBody>
          <a:bodyPr wrap="square" lIns="0" tIns="0" rIns="0" bIns="0" rtlCol="0" anchor="ctr"/>
          <a:lstStyle/>
          <a:p>
            <a:pPr algn="l" indent="0" marL="0">
              <a:buNone/>
            </a:pPr>
            <a:r>
              <a:rPr lang="en-US" sz="1400" dirty="0">
                <a:solidFill>
                  <a:schemeClr val="tx2"/>
                </a:solidFill>
              </a:rPr>
              <a:t>Dated editions, a change log, a published methodology, and a feedback link on every page.</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Housekeeping and reviews keep the system clean</a:t>
            </a:r>
            <a:endParaRPr lang="en-US" sz="3400" dirty="0"/>
          </a:p>
        </p:txBody>
      </p:sp>
      <p:sp>
        <p:nvSpPr>
          <p:cNvPr id="3" name="Card 147"/>
          <p:cNvSpPr/>
          <p:nvPr/>
        </p:nvSpPr>
        <p:spPr>
          <a:xfrm>
            <a:off x="548640" y="1508760"/>
            <a:ext cx="5454396" cy="3794760"/>
          </a:xfrm>
          <a:prstGeom prst="roundRect">
            <a:avLst>
              <a:gd name="adj" fmla="val 1928"/>
            </a:avLst>
          </a:prstGeom>
          <a:solidFill>
            <a:schemeClr val="bg2"/>
          </a:solidFill>
          <a:ln w="6350">
            <a:solidFill>
              <a:schemeClr val="bg2"/>
            </a:solidFill>
            <a:prstDash val="solid"/>
          </a:ln>
        </p:spPr>
      </p:sp>
      <p:sp>
        <p:nvSpPr>
          <p:cNvPr id="4" name="Text 148"/>
          <p:cNvSpPr txBox="1"/>
          <p:nvPr/>
        </p:nvSpPr>
        <p:spPr>
          <a:xfrm>
            <a:off x="822960" y="1737360"/>
            <a:ext cx="4905756"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EVERY NIGHT</a:t>
            </a:r>
            <a:endParaRPr lang="en-US" sz="1100" dirty="0"/>
          </a:p>
        </p:txBody>
      </p:sp>
      <p:sp>
        <p:nvSpPr>
          <p:cNvPr id="5" name="Text 149"/>
          <p:cNvSpPr txBox="1"/>
          <p:nvPr/>
        </p:nvSpPr>
        <p:spPr>
          <a:xfrm>
            <a:off x="822960" y="2011680"/>
            <a:ext cx="4905756" cy="457200"/>
          </a:xfrm>
          <a:prstGeom prst="rect">
            <a:avLst/>
          </a:prstGeom>
          <a:noFill/>
          <a:ln/>
        </p:spPr>
        <p:txBody>
          <a:bodyPr wrap="square" lIns="0" tIns="0" rIns="0" bIns="0" rtlCol="0" anchor="t"/>
          <a:lstStyle/>
          <a:p>
            <a:pPr algn="l" indent="0" marL="0">
              <a:buNone/>
            </a:pPr>
            <a:r>
              <a:rPr lang="en-US" sz="2400" b="1" dirty="0">
                <a:solidFill>
                  <a:schemeClr val="tx1"/>
                </a:solidFill>
              </a:rPr>
              <a:t>Housekeeping</a:t>
            </a:r>
            <a:endParaRPr lang="en-US" sz="2400" dirty="0"/>
          </a:p>
        </p:txBody>
      </p:sp>
      <p:sp>
        <p:nvSpPr>
          <p:cNvPr id="6" name="List 150"/>
          <p:cNvSpPr txBox="1"/>
          <p:nvPr/>
        </p:nvSpPr>
        <p:spPr>
          <a:xfrm>
            <a:off x="822960" y="2606040"/>
            <a:ext cx="4905756" cy="25146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2"/>
                </a:solidFill>
              </a:rPr>
              <a:t>Work too big for a nightly run is registered, never squeezed in.</a:t>
            </a:r>
            <a:endParaRPr lang="en-US" sz="1600" dirty="0"/>
          </a:p>
          <a:p>
            <a:pPr marL="342900" indent="-342900">
              <a:spcAft>
                <a:spcPts val="1200"/>
              </a:spcAft>
              <a:buSzPct val="100000"/>
              <a:buChar char="•"/>
            </a:pPr>
            <a:r>
              <a:rPr lang="en-US" sz="1600" dirty="0">
                <a:solidFill>
                  <a:schemeClr val="tx2"/>
                </a:solidFill>
              </a:rPr>
              <a:t>One job a night, oldest first, each sized to fit one session.</a:t>
            </a:r>
            <a:endParaRPr lang="en-US" sz="1600" dirty="0"/>
          </a:p>
          <a:p>
            <a:pPr marL="342900" indent="-342900">
              <a:spcAft>
                <a:spcPts val="1200"/>
              </a:spcAft>
              <a:buSzPct val="100000"/>
              <a:buChar char="•"/>
            </a:pPr>
            <a:r>
              <a:rPr lang="en-US" sz="1600" dirty="0">
                <a:solidFill>
                  <a:schemeClr val="tx2"/>
                </a:solidFill>
              </a:rPr>
              <a:t>Every job names its cause: a defect produced every night is a faulty process, not a backlog.</a:t>
            </a:r>
            <a:endParaRPr lang="en-US" sz="1600" dirty="0"/>
          </a:p>
          <a:p>
            <a:pPr marL="342900" indent="-342900">
              <a:spcAft>
                <a:spcPts val="1200"/>
              </a:spcAft>
              <a:buSzPct val="100000"/>
              <a:buChar char="•"/>
            </a:pPr>
            <a:r>
              <a:rPr lang="en-US" sz="1600" dirty="0">
                <a:solidFill>
                  <a:schemeClr val="tx2"/>
                </a:solidFill>
              </a:rPr>
              <a:t>Finished work is deleted. Git keeps the history.</a:t>
            </a:r>
            <a:endParaRPr lang="en-US" sz="1600" dirty="0"/>
          </a:p>
        </p:txBody>
      </p:sp>
      <p:sp>
        <p:nvSpPr>
          <p:cNvPr id="7" name="Card 151"/>
          <p:cNvSpPr/>
          <p:nvPr/>
        </p:nvSpPr>
        <p:spPr>
          <a:xfrm>
            <a:off x="6185916" y="1508760"/>
            <a:ext cx="5454396" cy="3794760"/>
          </a:xfrm>
          <a:prstGeom prst="roundRect">
            <a:avLst>
              <a:gd name="adj" fmla="val 1928"/>
            </a:avLst>
          </a:prstGeom>
          <a:solidFill>
            <a:schemeClr val="bg2"/>
          </a:solidFill>
          <a:ln w="6350">
            <a:solidFill>
              <a:schemeClr val="bg2"/>
            </a:solidFill>
            <a:prstDash val="solid"/>
          </a:ln>
        </p:spPr>
      </p:sp>
      <p:sp>
        <p:nvSpPr>
          <p:cNvPr id="8" name="Text 152"/>
          <p:cNvSpPr txBox="1"/>
          <p:nvPr/>
        </p:nvSpPr>
        <p:spPr>
          <a:xfrm>
            <a:off x="6460236" y="1737360"/>
            <a:ext cx="4905756"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EVERY FEW WEEKS</a:t>
            </a:r>
            <a:endParaRPr lang="en-US" sz="1100" dirty="0"/>
          </a:p>
        </p:txBody>
      </p:sp>
      <p:sp>
        <p:nvSpPr>
          <p:cNvPr id="9" name="Text 153"/>
          <p:cNvSpPr txBox="1"/>
          <p:nvPr/>
        </p:nvSpPr>
        <p:spPr>
          <a:xfrm>
            <a:off x="6460236" y="2011680"/>
            <a:ext cx="4905756" cy="457200"/>
          </a:xfrm>
          <a:prstGeom prst="rect">
            <a:avLst/>
          </a:prstGeom>
          <a:noFill/>
          <a:ln/>
        </p:spPr>
        <p:txBody>
          <a:bodyPr wrap="square" lIns="0" tIns="0" rIns="0" bIns="0" rtlCol="0" anchor="t"/>
          <a:lstStyle/>
          <a:p>
            <a:pPr algn="l" indent="0" marL="0">
              <a:buNone/>
            </a:pPr>
            <a:r>
              <a:rPr lang="en-US" sz="2400" b="1" dirty="0">
                <a:solidFill>
                  <a:schemeClr val="tx1"/>
                </a:solidFill>
              </a:rPr>
              <a:t>Strategic reviews</a:t>
            </a:r>
            <a:endParaRPr lang="en-US" sz="2400" dirty="0"/>
          </a:p>
        </p:txBody>
      </p:sp>
      <p:sp>
        <p:nvSpPr>
          <p:cNvPr id="10" name="List 154"/>
          <p:cNvSpPr txBox="1"/>
          <p:nvPr/>
        </p:nvSpPr>
        <p:spPr>
          <a:xfrm>
            <a:off x="6460236" y="2606040"/>
            <a:ext cx="4905756" cy="25146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2"/>
                </a:solidFill>
              </a:rPr>
              <a:t>Six since July 2026, each asking one question of the whole system.</a:t>
            </a:r>
            <a:endParaRPr lang="en-US" sz="1600" dirty="0"/>
          </a:p>
          <a:p>
            <a:pPr marL="342900" indent="-342900">
              <a:spcAft>
                <a:spcPts val="1200"/>
              </a:spcAft>
              <a:buSzPct val="100000"/>
              <a:buChar char="•"/>
            </a:pPr>
            <a:r>
              <a:rPr lang="en-US" sz="1600" dirty="0">
                <a:solidFill>
                  <a:schemeClr val="tx2"/>
                </a:solidFill>
              </a:rPr>
              <a:t>Evidence first: both repositories, the logs and the live site are measured.</a:t>
            </a:r>
            <a:endParaRPr lang="en-US" sz="1600" dirty="0"/>
          </a:p>
          <a:p>
            <a:pPr marL="342900" indent="-342900">
              <a:spcAft>
                <a:spcPts val="1200"/>
              </a:spcAft>
              <a:buSzPct val="100000"/>
              <a:buChar char="•"/>
            </a:pPr>
            <a:r>
              <a:rPr lang="en-US" sz="1600" dirty="0">
                <a:solidFill>
                  <a:schemeClr val="tx2"/>
                </a:solidFill>
              </a:rPr>
              <a:t>Both Claude Code agents comment before the tasks are final.</a:t>
            </a:r>
            <a:endParaRPr lang="en-US" sz="1600" dirty="0"/>
          </a:p>
          <a:p>
            <a:pPr marL="342900" indent="-342900">
              <a:spcAft>
                <a:spcPts val="1200"/>
              </a:spcAft>
              <a:buSzPct val="100000"/>
              <a:buChar char="•"/>
            </a:pPr>
            <a:r>
              <a:rPr lang="en-US" sz="1600" dirty="0">
                <a:solidFill>
                  <a:schemeClr val="tx2"/>
                </a:solidFill>
              </a:rPr>
              <a:t>Each ends in a register of numbered tasks, one owner per line.</a:t>
            </a:r>
            <a:endParaRPr lang="en-US" sz="1600" dirty="0"/>
          </a:p>
        </p:txBody>
      </p:sp>
      <p:sp>
        <p:nvSpPr>
          <p:cNvPr id="11" name="Text 155"/>
          <p:cNvSpPr txBox="1"/>
          <p:nvPr/>
        </p:nvSpPr>
        <p:spPr>
          <a:xfrm>
            <a:off x="548640" y="5440680"/>
            <a:ext cx="11091672" cy="731520"/>
          </a:xfrm>
          <a:prstGeom prst="rect">
            <a:avLst/>
          </a:prstGeom>
          <a:noFill/>
          <a:ln/>
        </p:spPr>
        <p:txBody>
          <a:bodyPr wrap="square" lIns="0" tIns="0" rIns="0" bIns="0" rtlCol="0" anchor="ctr"/>
          <a:lstStyle/>
          <a:p>
            <a:pPr algn="l" indent="0" marL="0">
              <a:buNone/>
            </a:pPr>
            <a:r>
              <a:rPr lang="en-US" sz="1400" b="1" dirty="0">
                <a:solidFill>
                  <a:schemeClr val="tx1"/>
                </a:solidFill>
              </a:rPr>
              <a:t>The rules are reviewed too. </a:t>
            </a:r>
            <a:pPr algn="l" indent="0" marL="0">
              <a:buNone/>
            </a:pPr>
            <a:r>
              <a:rPr lang="en-US" sz="1400" dirty="0">
                <a:solidFill>
                  <a:schemeClr val="tx2"/>
                </a:solidFill>
              </a:rPr>
              <a:t>An edge case becomes a rule only after it recurs in three separate runs, and every procedure carries a word cap that a script enforces.</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The team: one person and four AI agents</a:t>
            </a:r>
            <a:endParaRPr lang="en-US" sz="3400" dirty="0"/>
          </a:p>
        </p:txBody>
      </p:sp>
      <p:sp>
        <p:nvSpPr>
          <p:cNvPr id="3" name="Card 156"/>
          <p:cNvSpPr/>
          <p:nvPr/>
        </p:nvSpPr>
        <p:spPr>
          <a:xfrm>
            <a:off x="4082796" y="1463040"/>
            <a:ext cx="4023360" cy="1143000"/>
          </a:xfrm>
          <a:prstGeom prst="roundRect">
            <a:avLst>
              <a:gd name="adj" fmla="val 6400"/>
            </a:avLst>
          </a:prstGeom>
          <a:solidFill>
            <a:schemeClr val="tx1"/>
          </a:solidFill>
          <a:ln w="6350">
            <a:solidFill>
              <a:schemeClr val="tx1"/>
            </a:solidFill>
            <a:prstDash val="solid"/>
          </a:ln>
        </p:spPr>
      </p:sp>
      <p:sp>
        <p:nvSpPr>
          <p:cNvPr id="4" name="Text 157"/>
          <p:cNvSpPr txBox="1"/>
          <p:nvPr/>
        </p:nvSpPr>
        <p:spPr>
          <a:xfrm>
            <a:off x="4357116" y="1591056"/>
            <a:ext cx="3474720" cy="411480"/>
          </a:xfrm>
          <a:prstGeom prst="rect">
            <a:avLst/>
          </a:prstGeom>
          <a:noFill/>
          <a:ln/>
        </p:spPr>
        <p:txBody>
          <a:bodyPr wrap="square" lIns="0" tIns="0" rIns="0" bIns="0" rtlCol="0" anchor="t"/>
          <a:lstStyle/>
          <a:p>
            <a:pPr algn="l" indent="0" marL="0">
              <a:buNone/>
            </a:pPr>
            <a:r>
              <a:rPr lang="en-US" sz="2400" b="1" dirty="0">
                <a:solidFill>
                  <a:schemeClr val="bg1"/>
                </a:solidFill>
              </a:rPr>
              <a:t>Bill</a:t>
            </a:r>
            <a:endParaRPr lang="en-US" sz="2400" dirty="0"/>
          </a:p>
        </p:txBody>
      </p:sp>
      <p:sp>
        <p:nvSpPr>
          <p:cNvPr id="5" name="Text 158"/>
          <p:cNvSpPr txBox="1"/>
          <p:nvPr/>
        </p:nvSpPr>
        <p:spPr>
          <a:xfrm>
            <a:off x="4357116" y="2011680"/>
            <a:ext cx="3474720" cy="502920"/>
          </a:xfrm>
          <a:prstGeom prst="rect">
            <a:avLst/>
          </a:prstGeom>
          <a:noFill/>
          <a:ln/>
        </p:spPr>
        <p:txBody>
          <a:bodyPr wrap="square" lIns="0" tIns="0" rIns="0" bIns="0" rtlCol="0" anchor="t"/>
          <a:lstStyle/>
          <a:p>
            <a:pPr algn="l" indent="0" marL="0">
              <a:buNone/>
            </a:pPr>
            <a:r>
              <a:rPr lang="en-US" sz="1400" dirty="0">
                <a:solidFill>
                  <a:schemeClr val="accent6"/>
                </a:solidFill>
              </a:rPr>
              <a:t>Sets direction, rules on the irreversible, and reviews after the fact.</a:t>
            </a:r>
            <a:endParaRPr lang="en-US" sz="1400" dirty="0"/>
          </a:p>
        </p:txBody>
      </p:sp>
      <p:sp>
        <p:nvSpPr>
          <p:cNvPr id="6" name="Line 159"/>
          <p:cNvSpPr/>
          <p:nvPr/>
        </p:nvSpPr>
        <p:spPr>
          <a:xfrm>
            <a:off x="6094476" y="2606040"/>
            <a:ext cx="0" cy="320040"/>
          </a:xfrm>
          <a:prstGeom prst="line">
            <a:avLst/>
          </a:prstGeom>
          <a:noFill/>
          <a:ln w="15875">
            <a:solidFill>
              <a:schemeClr val="accent5"/>
            </a:solidFill>
            <a:prstDash val="solid"/>
          </a:ln>
        </p:spPr>
      </p:sp>
      <p:sp>
        <p:nvSpPr>
          <p:cNvPr id="7" name="Line 160"/>
          <p:cNvSpPr/>
          <p:nvPr/>
        </p:nvSpPr>
        <p:spPr>
          <a:xfrm>
            <a:off x="1865376" y="2926080"/>
            <a:ext cx="8449056" cy="0"/>
          </a:xfrm>
          <a:prstGeom prst="line">
            <a:avLst/>
          </a:prstGeom>
          <a:noFill/>
          <a:ln w="15875">
            <a:solidFill>
              <a:schemeClr val="accent5"/>
            </a:solidFill>
            <a:prstDash val="solid"/>
          </a:ln>
        </p:spPr>
      </p:sp>
      <p:sp>
        <p:nvSpPr>
          <p:cNvPr id="8" name="Line 161"/>
          <p:cNvSpPr/>
          <p:nvPr/>
        </p:nvSpPr>
        <p:spPr>
          <a:xfrm>
            <a:off x="1865376" y="2926080"/>
            <a:ext cx="0" cy="320040"/>
          </a:xfrm>
          <a:prstGeom prst="line">
            <a:avLst/>
          </a:prstGeom>
          <a:noFill/>
          <a:ln w="15875">
            <a:solidFill>
              <a:schemeClr val="accent5"/>
            </a:solidFill>
            <a:prstDash val="solid"/>
          </a:ln>
        </p:spPr>
      </p:sp>
      <p:sp>
        <p:nvSpPr>
          <p:cNvPr id="9" name="Card 162"/>
          <p:cNvSpPr/>
          <p:nvPr/>
        </p:nvSpPr>
        <p:spPr>
          <a:xfrm>
            <a:off x="548640" y="3246120"/>
            <a:ext cx="2633472" cy="2103120"/>
          </a:xfrm>
          <a:prstGeom prst="roundRect">
            <a:avLst>
              <a:gd name="adj" fmla="val 3478"/>
            </a:avLst>
          </a:prstGeom>
          <a:solidFill>
            <a:schemeClr val="bg2"/>
          </a:solidFill>
          <a:ln w="6350">
            <a:solidFill>
              <a:schemeClr val="bg2"/>
            </a:solidFill>
            <a:prstDash val="solid"/>
          </a:ln>
        </p:spPr>
      </p:sp>
      <p:sp>
        <p:nvSpPr>
          <p:cNvPr id="10" name="Text 163"/>
          <p:cNvSpPr txBox="1"/>
          <p:nvPr/>
        </p:nvSpPr>
        <p:spPr>
          <a:xfrm>
            <a:off x="749808" y="3447288"/>
            <a:ext cx="2231136"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DESIGN</a:t>
            </a:r>
            <a:endParaRPr lang="en-US" sz="1100" dirty="0"/>
          </a:p>
        </p:txBody>
      </p:sp>
      <p:sp>
        <p:nvSpPr>
          <p:cNvPr id="11" name="Text 164"/>
          <p:cNvSpPr txBox="1"/>
          <p:nvPr/>
        </p:nvSpPr>
        <p:spPr>
          <a:xfrm>
            <a:off x="749808" y="3721608"/>
            <a:ext cx="2231136" cy="411480"/>
          </a:xfrm>
          <a:prstGeom prst="rect">
            <a:avLst/>
          </a:prstGeom>
          <a:noFill/>
          <a:ln/>
        </p:spPr>
        <p:txBody>
          <a:bodyPr wrap="square" lIns="0" tIns="0" rIns="0" bIns="0" rtlCol="0" anchor="t"/>
          <a:lstStyle/>
          <a:p>
            <a:pPr algn="l" indent="0" marL="0">
              <a:buNone/>
            </a:pPr>
            <a:r>
              <a:rPr lang="en-US" sz="1900" b="1" dirty="0">
                <a:solidFill>
                  <a:schemeClr val="tx1"/>
                </a:solidFill>
              </a:rPr>
              <a:t>Cowork</a:t>
            </a:r>
            <a:endParaRPr lang="en-US" sz="1900" dirty="0"/>
          </a:p>
        </p:txBody>
      </p:sp>
      <p:sp>
        <p:nvSpPr>
          <p:cNvPr id="12" name="Text 165"/>
          <p:cNvSpPr txBox="1"/>
          <p:nvPr/>
        </p:nvSpPr>
        <p:spPr>
          <a:xfrm>
            <a:off x="749808" y="4206240"/>
            <a:ext cx="2231136" cy="1051560"/>
          </a:xfrm>
          <a:prstGeom prst="rect">
            <a:avLst/>
          </a:prstGeom>
          <a:noFill/>
          <a:ln/>
        </p:spPr>
        <p:txBody>
          <a:bodyPr wrap="square" lIns="0" tIns="0" rIns="0" bIns="0" rtlCol="0" anchor="t"/>
          <a:lstStyle/>
          <a:p>
            <a:pPr algn="l" indent="0" marL="0">
              <a:buNone/>
            </a:pPr>
            <a:r>
              <a:rPr lang="en-US" sz="1400" dirty="0">
                <a:solidFill>
                  <a:schemeClr val="tx2"/>
                </a:solidFill>
              </a:rPr>
              <a:t>Designs the site, the specifications and the graphics.</a:t>
            </a:r>
            <a:endParaRPr lang="en-US" sz="1400" dirty="0"/>
          </a:p>
        </p:txBody>
      </p:sp>
      <p:sp>
        <p:nvSpPr>
          <p:cNvPr id="13" name="Line 166"/>
          <p:cNvSpPr/>
          <p:nvPr/>
        </p:nvSpPr>
        <p:spPr>
          <a:xfrm>
            <a:off x="4681728" y="2926080"/>
            <a:ext cx="0" cy="320040"/>
          </a:xfrm>
          <a:prstGeom prst="line">
            <a:avLst/>
          </a:prstGeom>
          <a:noFill/>
          <a:ln w="15875">
            <a:solidFill>
              <a:schemeClr val="accent5"/>
            </a:solidFill>
            <a:prstDash val="solid"/>
          </a:ln>
        </p:spPr>
      </p:sp>
      <p:sp>
        <p:nvSpPr>
          <p:cNvPr id="14" name="Card 167"/>
          <p:cNvSpPr/>
          <p:nvPr/>
        </p:nvSpPr>
        <p:spPr>
          <a:xfrm>
            <a:off x="3364992" y="3246120"/>
            <a:ext cx="2633472" cy="2103120"/>
          </a:xfrm>
          <a:prstGeom prst="roundRect">
            <a:avLst>
              <a:gd name="adj" fmla="val 3478"/>
            </a:avLst>
          </a:prstGeom>
          <a:solidFill>
            <a:schemeClr val="bg2"/>
          </a:solidFill>
          <a:ln w="6350">
            <a:solidFill>
              <a:schemeClr val="bg2"/>
            </a:solidFill>
            <a:prstDash val="solid"/>
          </a:ln>
        </p:spPr>
      </p:sp>
      <p:sp>
        <p:nvSpPr>
          <p:cNvPr id="15" name="Text 168"/>
          <p:cNvSpPr txBox="1"/>
          <p:nvPr/>
        </p:nvSpPr>
        <p:spPr>
          <a:xfrm>
            <a:off x="3566160" y="3447288"/>
            <a:ext cx="2231136"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REVIEW</a:t>
            </a:r>
            <a:endParaRPr lang="en-US" sz="1100" dirty="0"/>
          </a:p>
        </p:txBody>
      </p:sp>
      <p:sp>
        <p:nvSpPr>
          <p:cNvPr id="16" name="Text 169"/>
          <p:cNvSpPr txBox="1"/>
          <p:nvPr/>
        </p:nvSpPr>
        <p:spPr>
          <a:xfrm>
            <a:off x="3566160" y="3721608"/>
            <a:ext cx="2231136" cy="411480"/>
          </a:xfrm>
          <a:prstGeom prst="rect">
            <a:avLst/>
          </a:prstGeom>
          <a:noFill/>
          <a:ln/>
        </p:spPr>
        <p:txBody>
          <a:bodyPr wrap="square" lIns="0" tIns="0" rIns="0" bIns="0" rtlCol="0" anchor="t"/>
          <a:lstStyle/>
          <a:p>
            <a:pPr algn="l" indent="0" marL="0">
              <a:buNone/>
            </a:pPr>
            <a:r>
              <a:rPr lang="en-US" sz="1900" b="1" dirty="0">
                <a:solidFill>
                  <a:schemeClr val="tx1"/>
                </a:solidFill>
              </a:rPr>
              <a:t>Cowork</a:t>
            </a:r>
            <a:endParaRPr lang="en-US" sz="1900" dirty="0"/>
          </a:p>
        </p:txBody>
      </p:sp>
      <p:sp>
        <p:nvSpPr>
          <p:cNvPr id="17" name="Text 170"/>
          <p:cNvSpPr txBox="1"/>
          <p:nvPr/>
        </p:nvSpPr>
        <p:spPr>
          <a:xfrm>
            <a:off x="3566160" y="4206240"/>
            <a:ext cx="2231136" cy="1051560"/>
          </a:xfrm>
          <a:prstGeom prst="rect">
            <a:avLst/>
          </a:prstGeom>
          <a:noFill/>
          <a:ln/>
        </p:spPr>
        <p:txBody>
          <a:bodyPr wrap="square" lIns="0" tIns="0" rIns="0" bIns="0" rtlCol="0" anchor="t"/>
          <a:lstStyle/>
          <a:p>
            <a:pPr algn="l" indent="0" marL="0">
              <a:buNone/>
            </a:pPr>
            <a:r>
              <a:rPr lang="en-US" sz="1400" dirty="0">
                <a:solidFill>
                  <a:schemeClr val="tx2"/>
                </a:solidFill>
              </a:rPr>
              <a:t>Writes the strategic reviews and measures the live system.</a:t>
            </a:r>
            <a:endParaRPr lang="en-US" sz="1400" dirty="0"/>
          </a:p>
        </p:txBody>
      </p:sp>
      <p:sp>
        <p:nvSpPr>
          <p:cNvPr id="18" name="Line 171"/>
          <p:cNvSpPr/>
          <p:nvPr/>
        </p:nvSpPr>
        <p:spPr>
          <a:xfrm>
            <a:off x="7498080" y="2926080"/>
            <a:ext cx="0" cy="320040"/>
          </a:xfrm>
          <a:prstGeom prst="line">
            <a:avLst/>
          </a:prstGeom>
          <a:noFill/>
          <a:ln w="15875">
            <a:solidFill>
              <a:schemeClr val="accent5"/>
            </a:solidFill>
            <a:prstDash val="solid"/>
          </a:ln>
        </p:spPr>
      </p:sp>
      <p:sp>
        <p:nvSpPr>
          <p:cNvPr id="19" name="Card 172"/>
          <p:cNvSpPr/>
          <p:nvPr/>
        </p:nvSpPr>
        <p:spPr>
          <a:xfrm>
            <a:off x="6181344" y="3246120"/>
            <a:ext cx="2633472" cy="2103120"/>
          </a:xfrm>
          <a:prstGeom prst="roundRect">
            <a:avLst>
              <a:gd name="adj" fmla="val 3478"/>
            </a:avLst>
          </a:prstGeom>
          <a:solidFill>
            <a:schemeClr val="bg2"/>
          </a:solidFill>
          <a:ln w="6350">
            <a:solidFill>
              <a:schemeClr val="bg2"/>
            </a:solidFill>
            <a:prstDash val="solid"/>
          </a:ln>
        </p:spPr>
      </p:sp>
      <p:sp>
        <p:nvSpPr>
          <p:cNvPr id="20" name="Text 173"/>
          <p:cNvSpPr txBox="1"/>
          <p:nvPr/>
        </p:nvSpPr>
        <p:spPr>
          <a:xfrm>
            <a:off x="6382512" y="3447288"/>
            <a:ext cx="2231136"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COLLECTION</a:t>
            </a:r>
            <a:endParaRPr lang="en-US" sz="1100" dirty="0"/>
          </a:p>
        </p:txBody>
      </p:sp>
      <p:sp>
        <p:nvSpPr>
          <p:cNvPr id="21" name="Text 174"/>
          <p:cNvSpPr txBox="1"/>
          <p:nvPr/>
        </p:nvSpPr>
        <p:spPr>
          <a:xfrm>
            <a:off x="6382512" y="3721608"/>
            <a:ext cx="2231136" cy="411480"/>
          </a:xfrm>
          <a:prstGeom prst="rect">
            <a:avLst/>
          </a:prstGeom>
          <a:noFill/>
          <a:ln/>
        </p:spPr>
        <p:txBody>
          <a:bodyPr wrap="square" lIns="0" tIns="0" rIns="0" bIns="0" rtlCol="0" anchor="t"/>
          <a:lstStyle/>
          <a:p>
            <a:pPr algn="l" indent="0" marL="0">
              <a:buNone/>
            </a:pPr>
            <a:r>
              <a:rPr lang="en-US" sz="1900" b="1" dirty="0">
                <a:solidFill>
                  <a:schemeClr val="tx1"/>
                </a:solidFill>
              </a:rPr>
              <a:t>Claude Code · OSINT</a:t>
            </a:r>
            <a:endParaRPr lang="en-US" sz="1900" dirty="0"/>
          </a:p>
        </p:txBody>
      </p:sp>
      <p:sp>
        <p:nvSpPr>
          <p:cNvPr id="22" name="Text 175"/>
          <p:cNvSpPr txBox="1"/>
          <p:nvPr/>
        </p:nvSpPr>
        <p:spPr>
          <a:xfrm>
            <a:off x="6382512" y="4206240"/>
            <a:ext cx="2231136" cy="1051560"/>
          </a:xfrm>
          <a:prstGeom prst="rect">
            <a:avLst/>
          </a:prstGeom>
          <a:noFill/>
          <a:ln/>
        </p:spPr>
        <p:txBody>
          <a:bodyPr wrap="square" lIns="0" tIns="0" rIns="0" bIns="0" rtlCol="0" anchor="t"/>
          <a:lstStyle/>
          <a:p>
            <a:pPr algn="l" indent="0" marL="0">
              <a:buNone/>
            </a:pPr>
            <a:r>
              <a:rPr lang="en-US" sz="1400" dirty="0">
                <a:solidFill>
                  <a:schemeClr val="tx2"/>
                </a:solidFill>
              </a:rPr>
              <a:t>Runs collection every night. The only writer to the evidence base.</a:t>
            </a:r>
            <a:endParaRPr lang="en-US" sz="1400" dirty="0"/>
          </a:p>
        </p:txBody>
      </p:sp>
      <p:sp>
        <p:nvSpPr>
          <p:cNvPr id="23" name="Line 176"/>
          <p:cNvSpPr/>
          <p:nvPr/>
        </p:nvSpPr>
        <p:spPr>
          <a:xfrm>
            <a:off x="10314432" y="2926080"/>
            <a:ext cx="0" cy="320040"/>
          </a:xfrm>
          <a:prstGeom prst="line">
            <a:avLst/>
          </a:prstGeom>
          <a:noFill/>
          <a:ln w="15875">
            <a:solidFill>
              <a:schemeClr val="accent5"/>
            </a:solidFill>
            <a:prstDash val="solid"/>
          </a:ln>
        </p:spPr>
      </p:sp>
      <p:sp>
        <p:nvSpPr>
          <p:cNvPr id="24" name="Card 177"/>
          <p:cNvSpPr/>
          <p:nvPr/>
        </p:nvSpPr>
        <p:spPr>
          <a:xfrm>
            <a:off x="8997696" y="3246120"/>
            <a:ext cx="2633472" cy="2103120"/>
          </a:xfrm>
          <a:prstGeom prst="roundRect">
            <a:avLst>
              <a:gd name="adj" fmla="val 3478"/>
            </a:avLst>
          </a:prstGeom>
          <a:solidFill>
            <a:schemeClr val="bg2"/>
          </a:solidFill>
          <a:ln w="6350">
            <a:solidFill>
              <a:schemeClr val="bg2"/>
            </a:solidFill>
            <a:prstDash val="solid"/>
          </a:ln>
        </p:spPr>
      </p:sp>
      <p:sp>
        <p:nvSpPr>
          <p:cNvPr id="25" name="Text 178"/>
          <p:cNvSpPr txBox="1"/>
          <p:nvPr/>
        </p:nvSpPr>
        <p:spPr>
          <a:xfrm>
            <a:off x="9198864" y="3447288"/>
            <a:ext cx="2231136"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PUBLISHING</a:t>
            </a:r>
            <a:endParaRPr lang="en-US" sz="1100" dirty="0"/>
          </a:p>
        </p:txBody>
      </p:sp>
      <p:sp>
        <p:nvSpPr>
          <p:cNvPr id="26" name="Text 179"/>
          <p:cNvSpPr txBox="1"/>
          <p:nvPr/>
        </p:nvSpPr>
        <p:spPr>
          <a:xfrm>
            <a:off x="9198864" y="3721608"/>
            <a:ext cx="2231136" cy="411480"/>
          </a:xfrm>
          <a:prstGeom prst="rect">
            <a:avLst/>
          </a:prstGeom>
          <a:noFill/>
          <a:ln/>
        </p:spPr>
        <p:txBody>
          <a:bodyPr wrap="square" lIns="0" tIns="0" rIns="0" bIns="0" rtlCol="0" anchor="t"/>
          <a:lstStyle/>
          <a:p>
            <a:pPr algn="l" indent="0" marL="0">
              <a:buNone/>
            </a:pPr>
            <a:r>
              <a:rPr lang="en-US" sz="1900" b="1" dirty="0">
                <a:solidFill>
                  <a:schemeClr val="tx1"/>
                </a:solidFill>
              </a:rPr>
              <a:t>Claude Code · Corpus</a:t>
            </a:r>
            <a:endParaRPr lang="en-US" sz="1900" dirty="0"/>
          </a:p>
        </p:txBody>
      </p:sp>
      <p:sp>
        <p:nvSpPr>
          <p:cNvPr id="27" name="Text 180"/>
          <p:cNvSpPr txBox="1"/>
          <p:nvPr/>
        </p:nvSpPr>
        <p:spPr>
          <a:xfrm>
            <a:off x="9198864" y="4206240"/>
            <a:ext cx="2231136" cy="1051560"/>
          </a:xfrm>
          <a:prstGeom prst="rect">
            <a:avLst/>
          </a:prstGeom>
          <a:noFill/>
          <a:ln/>
        </p:spPr>
        <p:txBody>
          <a:bodyPr wrap="square" lIns="0" tIns="0" rIns="0" bIns="0" rtlCol="0" anchor="t"/>
          <a:lstStyle/>
          <a:p>
            <a:pPr algn="l" indent="0" marL="0">
              <a:buNone/>
            </a:pPr>
            <a:r>
              <a:rPr lang="en-US" sz="1400" dirty="0">
                <a:solidFill>
                  <a:schemeClr val="tx2"/>
                </a:solidFill>
              </a:rPr>
              <a:t>Runs the build, the reports and the site. Reads the evidence, never writes to it.</a:t>
            </a:r>
            <a:endParaRPr lang="en-US" sz="1400" dirty="0"/>
          </a:p>
        </p:txBody>
      </p:sp>
      <p:sp>
        <p:nvSpPr>
          <p:cNvPr id="28" name="Text 181"/>
          <p:cNvSpPr txBox="1"/>
          <p:nvPr/>
        </p:nvSpPr>
        <p:spPr>
          <a:xfrm>
            <a:off x="548640" y="5486400"/>
            <a:ext cx="11091672" cy="640080"/>
          </a:xfrm>
          <a:prstGeom prst="rect">
            <a:avLst/>
          </a:prstGeom>
          <a:noFill/>
          <a:ln/>
        </p:spPr>
        <p:txBody>
          <a:bodyPr wrap="square" lIns="0" tIns="0" rIns="0" bIns="0" rtlCol="0" anchor="ctr"/>
          <a:lstStyle/>
          <a:p>
            <a:pPr algn="l" indent="0" marL="0">
              <a:buNone/>
            </a:pPr>
            <a:r>
              <a:rPr lang="en-US" sz="1400" dirty="0">
                <a:solidFill>
                  <a:schemeClr val="tx2"/>
                </a:solidFill>
              </a:rPr>
              <a:t>Design work happens in Cowork. Operational running happens in Claude Code. Every agent works from written procedures kept in git.</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How the five check each other’s work</a:t>
            </a:r>
            <a:endParaRPr lang="en-US" sz="3400" dirty="0"/>
          </a:p>
        </p:txBody>
      </p:sp>
      <p:sp>
        <p:nvSpPr>
          <p:cNvPr id="3" name="Card 182"/>
          <p:cNvSpPr/>
          <p:nvPr/>
        </p:nvSpPr>
        <p:spPr>
          <a:xfrm>
            <a:off x="548640" y="1463040"/>
            <a:ext cx="5454396" cy="1847088"/>
          </a:xfrm>
          <a:prstGeom prst="roundRect">
            <a:avLst>
              <a:gd name="adj" fmla="val 3960"/>
            </a:avLst>
          </a:prstGeom>
          <a:solidFill>
            <a:schemeClr val="bg2"/>
          </a:solidFill>
          <a:ln w="6350">
            <a:solidFill>
              <a:schemeClr val="bg2"/>
            </a:solidFill>
            <a:prstDash val="solid"/>
          </a:ln>
        </p:spPr>
      </p:sp>
      <p:sp>
        <p:nvSpPr>
          <p:cNvPr id="4" name="Text 183"/>
          <p:cNvSpPr txBox="1"/>
          <p:nvPr/>
        </p:nvSpPr>
        <p:spPr>
          <a:xfrm>
            <a:off x="822960" y="1682496"/>
            <a:ext cx="4905756"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COWORK  →  CLAUDE CODE</a:t>
            </a:r>
            <a:endParaRPr lang="en-US" sz="1100" dirty="0"/>
          </a:p>
        </p:txBody>
      </p:sp>
      <p:sp>
        <p:nvSpPr>
          <p:cNvPr id="5" name="Text 184"/>
          <p:cNvSpPr txBox="1"/>
          <p:nvPr/>
        </p:nvSpPr>
        <p:spPr>
          <a:xfrm>
            <a:off x="822960" y="1975104"/>
            <a:ext cx="4905756" cy="384048"/>
          </a:xfrm>
          <a:prstGeom prst="rect">
            <a:avLst/>
          </a:prstGeom>
          <a:noFill/>
          <a:ln/>
        </p:spPr>
        <p:txBody>
          <a:bodyPr wrap="square" lIns="0" tIns="0" rIns="0" bIns="0" rtlCol="0" anchor="t"/>
          <a:lstStyle/>
          <a:p>
            <a:pPr algn="l" indent="0" marL="0">
              <a:buNone/>
            </a:pPr>
            <a:r>
              <a:rPr lang="en-US" sz="1900" b="1" dirty="0">
                <a:solidFill>
                  <a:schemeClr val="tx1"/>
                </a:solidFill>
              </a:rPr>
              <a:t>Design is reviewed by operations</a:t>
            </a:r>
            <a:endParaRPr lang="en-US" sz="1900" dirty="0"/>
          </a:p>
        </p:txBody>
      </p:sp>
      <p:sp>
        <p:nvSpPr>
          <p:cNvPr id="6" name="Text 185"/>
          <p:cNvSpPr txBox="1"/>
          <p:nvPr/>
        </p:nvSpPr>
        <p:spPr>
          <a:xfrm>
            <a:off x="822960" y="2432304"/>
            <a:ext cx="4905756" cy="777240"/>
          </a:xfrm>
          <a:prstGeom prst="rect">
            <a:avLst/>
          </a:prstGeom>
          <a:noFill/>
          <a:ln/>
        </p:spPr>
        <p:txBody>
          <a:bodyPr wrap="square" lIns="0" tIns="0" rIns="0" bIns="0" rtlCol="0" anchor="t"/>
          <a:lstStyle/>
          <a:p>
            <a:pPr algn="l" indent="0" marL="0">
              <a:buNone/>
            </a:pPr>
            <a:r>
              <a:rPr lang="en-US" sz="1400" dirty="0">
                <a:solidFill>
                  <a:schemeClr val="tx2"/>
                </a:solidFill>
              </a:rPr>
              <a:t>Whenever Cowork changes something, Claude Code reviews it from an operational point of view before it runs.</a:t>
            </a:r>
            <a:endParaRPr lang="en-US" sz="1400" dirty="0"/>
          </a:p>
        </p:txBody>
      </p:sp>
      <p:sp>
        <p:nvSpPr>
          <p:cNvPr id="7" name="Card 186"/>
          <p:cNvSpPr/>
          <p:nvPr/>
        </p:nvSpPr>
        <p:spPr>
          <a:xfrm>
            <a:off x="6185916" y="1463040"/>
            <a:ext cx="5454396" cy="1847088"/>
          </a:xfrm>
          <a:prstGeom prst="roundRect">
            <a:avLst>
              <a:gd name="adj" fmla="val 3960"/>
            </a:avLst>
          </a:prstGeom>
          <a:solidFill>
            <a:schemeClr val="bg2"/>
          </a:solidFill>
          <a:ln w="6350">
            <a:solidFill>
              <a:schemeClr val="bg2"/>
            </a:solidFill>
            <a:prstDash val="solid"/>
          </a:ln>
        </p:spPr>
      </p:sp>
      <p:sp>
        <p:nvSpPr>
          <p:cNvPr id="8" name="Text 187"/>
          <p:cNvSpPr txBox="1"/>
          <p:nvPr/>
        </p:nvSpPr>
        <p:spPr>
          <a:xfrm>
            <a:off x="6460236" y="1682496"/>
            <a:ext cx="4905756"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CLAUDE CODE  ↔  CLAUDE CODE</a:t>
            </a:r>
            <a:endParaRPr lang="en-US" sz="1100" dirty="0"/>
          </a:p>
        </p:txBody>
      </p:sp>
      <p:sp>
        <p:nvSpPr>
          <p:cNvPr id="9" name="Text 188"/>
          <p:cNvSpPr txBox="1"/>
          <p:nvPr/>
        </p:nvSpPr>
        <p:spPr>
          <a:xfrm>
            <a:off x="6460236" y="1975104"/>
            <a:ext cx="4905756" cy="384048"/>
          </a:xfrm>
          <a:prstGeom prst="rect">
            <a:avLst/>
          </a:prstGeom>
          <a:noFill/>
          <a:ln/>
        </p:spPr>
        <p:txBody>
          <a:bodyPr wrap="square" lIns="0" tIns="0" rIns="0" bIns="0" rtlCol="0" anchor="t"/>
          <a:lstStyle/>
          <a:p>
            <a:pPr algn="l" indent="0" marL="0">
              <a:buNone/>
            </a:pPr>
            <a:r>
              <a:rPr lang="en-US" sz="1900" b="1" dirty="0">
                <a:solidFill>
                  <a:schemeClr val="tx1"/>
                </a:solidFill>
              </a:rPr>
              <a:t>Each side checks what crosses the boundary</a:t>
            </a:r>
            <a:endParaRPr lang="en-US" sz="1900" dirty="0"/>
          </a:p>
        </p:txBody>
      </p:sp>
      <p:sp>
        <p:nvSpPr>
          <p:cNvPr id="10" name="Text 189"/>
          <p:cNvSpPr txBox="1"/>
          <p:nvPr/>
        </p:nvSpPr>
        <p:spPr>
          <a:xfrm>
            <a:off x="6460236" y="2432304"/>
            <a:ext cx="4905756" cy="777240"/>
          </a:xfrm>
          <a:prstGeom prst="rect">
            <a:avLst/>
          </a:prstGeom>
          <a:noFill/>
          <a:ln/>
        </p:spPr>
        <p:txBody>
          <a:bodyPr wrap="square" lIns="0" tIns="0" rIns="0" bIns="0" rtlCol="0" anchor="t"/>
          <a:lstStyle/>
          <a:p>
            <a:pPr algn="l" indent="0" marL="0">
              <a:buNone/>
            </a:pPr>
            <a:r>
              <a:rPr lang="en-US" sz="1400" dirty="0">
                <a:solidFill>
                  <a:schemeClr val="tx2"/>
                </a:solidFill>
              </a:rPr>
              <a:t>Problems travel as tagged notes. Changes travel as patches that the receiving side tests and applies itself.</a:t>
            </a:r>
            <a:endParaRPr lang="en-US" sz="1400" dirty="0"/>
          </a:p>
        </p:txBody>
      </p:sp>
      <p:sp>
        <p:nvSpPr>
          <p:cNvPr id="11" name="Card 190"/>
          <p:cNvSpPr/>
          <p:nvPr/>
        </p:nvSpPr>
        <p:spPr>
          <a:xfrm>
            <a:off x="548640" y="3493008"/>
            <a:ext cx="5454396" cy="1847088"/>
          </a:xfrm>
          <a:prstGeom prst="roundRect">
            <a:avLst>
              <a:gd name="adj" fmla="val 3960"/>
            </a:avLst>
          </a:prstGeom>
          <a:solidFill>
            <a:schemeClr val="bg2"/>
          </a:solidFill>
          <a:ln w="6350">
            <a:solidFill>
              <a:schemeClr val="bg2"/>
            </a:solidFill>
            <a:prstDash val="solid"/>
          </a:ln>
        </p:spPr>
      </p:sp>
      <p:sp>
        <p:nvSpPr>
          <p:cNvPr id="12" name="Text 191"/>
          <p:cNvSpPr txBox="1"/>
          <p:nvPr/>
        </p:nvSpPr>
        <p:spPr>
          <a:xfrm>
            <a:off x="822960" y="3712464"/>
            <a:ext cx="4905756"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CLAUDE CODE  →  COWORK</a:t>
            </a:r>
            <a:endParaRPr lang="en-US" sz="1100" dirty="0"/>
          </a:p>
        </p:txBody>
      </p:sp>
      <p:sp>
        <p:nvSpPr>
          <p:cNvPr id="13" name="Text 192"/>
          <p:cNvSpPr txBox="1"/>
          <p:nvPr/>
        </p:nvSpPr>
        <p:spPr>
          <a:xfrm>
            <a:off x="822960" y="4005072"/>
            <a:ext cx="4905756" cy="384048"/>
          </a:xfrm>
          <a:prstGeom prst="rect">
            <a:avLst/>
          </a:prstGeom>
          <a:noFill/>
          <a:ln/>
        </p:spPr>
        <p:txBody>
          <a:bodyPr wrap="square" lIns="0" tIns="0" rIns="0" bIns="0" rtlCol="0" anchor="t"/>
          <a:lstStyle/>
          <a:p>
            <a:pPr algn="l" indent="0" marL="0">
              <a:buNone/>
            </a:pPr>
            <a:r>
              <a:rPr lang="en-US" sz="1900" b="1" dirty="0">
                <a:solidFill>
                  <a:schemeClr val="tx1"/>
                </a:solidFill>
              </a:rPr>
              <a:t>Reviews are themselves reviewed</a:t>
            </a:r>
            <a:endParaRPr lang="en-US" sz="1900" dirty="0"/>
          </a:p>
        </p:txBody>
      </p:sp>
      <p:sp>
        <p:nvSpPr>
          <p:cNvPr id="14" name="Text 193"/>
          <p:cNvSpPr txBox="1"/>
          <p:nvPr/>
        </p:nvSpPr>
        <p:spPr>
          <a:xfrm>
            <a:off x="822960" y="4462272"/>
            <a:ext cx="4905756" cy="777240"/>
          </a:xfrm>
          <a:prstGeom prst="rect">
            <a:avLst/>
          </a:prstGeom>
          <a:noFill/>
          <a:ln/>
        </p:spPr>
        <p:txBody>
          <a:bodyPr wrap="square" lIns="0" tIns="0" rIns="0" bIns="0" rtlCol="0" anchor="t"/>
          <a:lstStyle/>
          <a:p>
            <a:pPr algn="l" indent="0" marL="0">
              <a:buNone/>
            </a:pPr>
            <a:r>
              <a:rPr lang="en-US" sz="1400" dirty="0">
                <a:solidFill>
                  <a:schemeClr val="tx2"/>
                </a:solidFill>
              </a:rPr>
              <a:t>Both Claude Code agents comment on each strategic review from inside their own repository. Every comment gets a response.</a:t>
            </a:r>
            <a:endParaRPr lang="en-US" sz="1400" dirty="0"/>
          </a:p>
        </p:txBody>
      </p:sp>
      <p:sp>
        <p:nvSpPr>
          <p:cNvPr id="15" name="Card 194"/>
          <p:cNvSpPr/>
          <p:nvPr/>
        </p:nvSpPr>
        <p:spPr>
          <a:xfrm>
            <a:off x="6185916" y="3493008"/>
            <a:ext cx="5454396" cy="1847088"/>
          </a:xfrm>
          <a:prstGeom prst="roundRect">
            <a:avLst>
              <a:gd name="adj" fmla="val 3960"/>
            </a:avLst>
          </a:prstGeom>
          <a:solidFill>
            <a:schemeClr val="bg2"/>
          </a:solidFill>
          <a:ln w="6350">
            <a:solidFill>
              <a:schemeClr val="bg2"/>
            </a:solidFill>
            <a:prstDash val="solid"/>
          </a:ln>
        </p:spPr>
      </p:sp>
      <p:sp>
        <p:nvSpPr>
          <p:cNvPr id="16" name="Text 195"/>
          <p:cNvSpPr txBox="1"/>
          <p:nvPr/>
        </p:nvSpPr>
        <p:spPr>
          <a:xfrm>
            <a:off x="6460236" y="3712464"/>
            <a:ext cx="4905756" cy="237744"/>
          </a:xfrm>
          <a:prstGeom prst="rect">
            <a:avLst/>
          </a:prstGeom>
          <a:noFill/>
          <a:ln/>
        </p:spPr>
        <p:txBody>
          <a:bodyPr wrap="square" lIns="0" tIns="0" rIns="0" bIns="0" rtlCol="0" anchor="t"/>
          <a:lstStyle/>
          <a:p>
            <a:pPr algn="l" indent="0" marL="0">
              <a:buNone/>
            </a:pPr>
            <a:r>
              <a:rPr lang="en-US" sz="1100" b="1" spc="150" kern="0" dirty="0">
                <a:solidFill>
                  <a:schemeClr val="accent1"/>
                </a:solidFill>
              </a:rPr>
              <a:t>EVERYONE  →  BILL</a:t>
            </a:r>
            <a:endParaRPr lang="en-US" sz="1100" dirty="0"/>
          </a:p>
        </p:txBody>
      </p:sp>
      <p:sp>
        <p:nvSpPr>
          <p:cNvPr id="17" name="Text 196"/>
          <p:cNvSpPr txBox="1"/>
          <p:nvPr/>
        </p:nvSpPr>
        <p:spPr>
          <a:xfrm>
            <a:off x="6460236" y="4005072"/>
            <a:ext cx="4905756" cy="384048"/>
          </a:xfrm>
          <a:prstGeom prst="rect">
            <a:avLst/>
          </a:prstGeom>
          <a:noFill/>
          <a:ln/>
        </p:spPr>
        <p:txBody>
          <a:bodyPr wrap="square" lIns="0" tIns="0" rIns="0" bIns="0" rtlCol="0" anchor="t"/>
          <a:lstStyle/>
          <a:p>
            <a:pPr algn="l" indent="0" marL="0">
              <a:buNone/>
            </a:pPr>
            <a:r>
              <a:rPr lang="en-US" sz="1900" b="1" dirty="0">
                <a:solidFill>
                  <a:schemeClr val="tx1"/>
                </a:solidFill>
              </a:rPr>
              <a:t>Act first, answer afterwards</a:t>
            </a:r>
            <a:endParaRPr lang="en-US" sz="1900" dirty="0"/>
          </a:p>
        </p:txBody>
      </p:sp>
      <p:sp>
        <p:nvSpPr>
          <p:cNvPr id="18" name="Text 197"/>
          <p:cNvSpPr txBox="1"/>
          <p:nvPr/>
        </p:nvSpPr>
        <p:spPr>
          <a:xfrm>
            <a:off x="6460236" y="4462272"/>
            <a:ext cx="4905756" cy="777240"/>
          </a:xfrm>
          <a:prstGeom prst="rect">
            <a:avLst/>
          </a:prstGeom>
          <a:noFill/>
          <a:ln/>
        </p:spPr>
        <p:txBody>
          <a:bodyPr wrap="square" lIns="0" tIns="0" rIns="0" bIns="0" rtlCol="0" anchor="t"/>
          <a:lstStyle/>
          <a:p>
            <a:pPr algn="l" indent="0" marL="0">
              <a:buNone/>
            </a:pPr>
            <a:r>
              <a:rPr lang="en-US" sz="1400" dirty="0">
                <a:solidFill>
                  <a:schemeClr val="tx2"/>
                </a:solidFill>
              </a:rPr>
              <a:t>Agents act and log. Bill reviews after the fact and reverts what he disagrees with. Only the irreversible is put to him first.</a:t>
            </a:r>
            <a:endParaRPr lang="en-US" sz="1400" dirty="0"/>
          </a:p>
        </p:txBody>
      </p:sp>
      <p:sp>
        <p:nvSpPr>
          <p:cNvPr id="19" name="Card 198"/>
          <p:cNvSpPr/>
          <p:nvPr/>
        </p:nvSpPr>
        <p:spPr>
          <a:xfrm>
            <a:off x="548640" y="5504688"/>
            <a:ext cx="11091672" cy="658368"/>
          </a:xfrm>
          <a:prstGeom prst="roundRect">
            <a:avLst>
              <a:gd name="adj" fmla="val 11111"/>
            </a:avLst>
          </a:prstGeom>
          <a:solidFill>
            <a:schemeClr val="tx1"/>
          </a:solidFill>
          <a:ln w="6350">
            <a:solidFill>
              <a:schemeClr val="tx1"/>
            </a:solidFill>
            <a:prstDash val="solid"/>
          </a:ln>
        </p:spPr>
      </p:sp>
      <p:sp>
        <p:nvSpPr>
          <p:cNvPr id="20" name="Text 199"/>
          <p:cNvSpPr txBox="1"/>
          <p:nvPr/>
        </p:nvSpPr>
        <p:spPr>
          <a:xfrm>
            <a:off x="822960" y="5504688"/>
            <a:ext cx="10543032" cy="658368"/>
          </a:xfrm>
          <a:prstGeom prst="rect">
            <a:avLst/>
          </a:prstGeom>
          <a:noFill/>
          <a:ln/>
        </p:spPr>
        <p:txBody>
          <a:bodyPr wrap="square" lIns="0" tIns="0" rIns="0" bIns="0" rtlCol="0" anchor="ctr"/>
          <a:lstStyle/>
          <a:p>
            <a:pPr algn="l" indent="0" marL="0">
              <a:buNone/>
            </a:pPr>
            <a:r>
              <a:rPr lang="en-US" sz="1800" b="1" dirty="0">
                <a:solidFill>
                  <a:schemeClr val="bg1"/>
                </a:solidFill>
              </a:rPr>
              <a:t>The test for asking first is reversibility, not importance.</a:t>
            </a:r>
            <a:endParaRPr lang="en-US" sz="18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Six rules that make it work</a:t>
            </a:r>
            <a:endParaRPr lang="en-US" sz="3400" dirty="0"/>
          </a:p>
        </p:txBody>
      </p:sp>
      <p:sp>
        <p:nvSpPr>
          <p:cNvPr id="3" name="Card 200"/>
          <p:cNvSpPr/>
          <p:nvPr/>
        </p:nvSpPr>
        <p:spPr>
          <a:xfrm>
            <a:off x="548640" y="1508760"/>
            <a:ext cx="3566160" cy="2148840"/>
          </a:xfrm>
          <a:prstGeom prst="roundRect">
            <a:avLst>
              <a:gd name="adj" fmla="val 3404"/>
            </a:avLst>
          </a:prstGeom>
          <a:solidFill>
            <a:schemeClr val="bg2"/>
          </a:solidFill>
          <a:ln w="6350">
            <a:solidFill>
              <a:schemeClr val="bg2"/>
            </a:solidFill>
            <a:prstDash val="solid"/>
          </a:ln>
        </p:spPr>
      </p:sp>
      <p:sp>
        <p:nvSpPr>
          <p:cNvPr id="4" name="Number 201"/>
          <p:cNvSpPr/>
          <p:nvPr/>
        </p:nvSpPr>
        <p:spPr>
          <a:xfrm>
            <a:off x="777240" y="1737360"/>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202"/>
          <p:cNvSpPr txBox="1"/>
          <p:nvPr/>
        </p:nvSpPr>
        <p:spPr>
          <a:xfrm>
            <a:off x="777240" y="2286000"/>
            <a:ext cx="3108960" cy="384048"/>
          </a:xfrm>
          <a:prstGeom prst="rect">
            <a:avLst/>
          </a:prstGeom>
          <a:noFill/>
          <a:ln/>
        </p:spPr>
        <p:txBody>
          <a:bodyPr wrap="square" lIns="0" tIns="0" rIns="0" bIns="0" rtlCol="0" anchor="t"/>
          <a:lstStyle/>
          <a:p>
            <a:pPr algn="l" indent="0" marL="0">
              <a:buNone/>
            </a:pPr>
            <a:r>
              <a:rPr lang="en-US" sz="1900" b="1" dirty="0">
                <a:solidFill>
                  <a:schemeClr val="tx1"/>
                </a:solidFill>
              </a:rPr>
              <a:t>Written procedure</a:t>
            </a:r>
            <a:endParaRPr lang="en-US" sz="1900" dirty="0"/>
          </a:p>
        </p:txBody>
      </p:sp>
      <p:sp>
        <p:nvSpPr>
          <p:cNvPr id="6" name="Text 203"/>
          <p:cNvSpPr txBox="1"/>
          <p:nvPr/>
        </p:nvSpPr>
        <p:spPr>
          <a:xfrm>
            <a:off x="777240" y="2715768"/>
            <a:ext cx="3108960" cy="868680"/>
          </a:xfrm>
          <a:prstGeom prst="rect">
            <a:avLst/>
          </a:prstGeom>
          <a:noFill/>
          <a:ln/>
        </p:spPr>
        <p:txBody>
          <a:bodyPr wrap="square" lIns="0" tIns="0" rIns="0" bIns="0" rtlCol="0" anchor="t"/>
          <a:lstStyle/>
          <a:p>
            <a:pPr algn="l" indent="0" marL="0">
              <a:buNone/>
            </a:pPr>
            <a:r>
              <a:rPr lang="en-US" sz="1400" dirty="0">
                <a:solidFill>
                  <a:schemeClr val="tx2"/>
                </a:solidFill>
              </a:rPr>
              <a:t>Every step is a document an agent reads and follows, or a script that checks the result.</a:t>
            </a:r>
            <a:endParaRPr lang="en-US" sz="1400" dirty="0"/>
          </a:p>
        </p:txBody>
      </p:sp>
      <p:sp>
        <p:nvSpPr>
          <p:cNvPr id="7" name="Card 204"/>
          <p:cNvSpPr/>
          <p:nvPr/>
        </p:nvSpPr>
        <p:spPr>
          <a:xfrm>
            <a:off x="4306824" y="1508760"/>
            <a:ext cx="3566160" cy="2148840"/>
          </a:xfrm>
          <a:prstGeom prst="roundRect">
            <a:avLst>
              <a:gd name="adj" fmla="val 3404"/>
            </a:avLst>
          </a:prstGeom>
          <a:solidFill>
            <a:schemeClr val="bg2"/>
          </a:solidFill>
          <a:ln w="6350">
            <a:solidFill>
              <a:schemeClr val="bg2"/>
            </a:solidFill>
            <a:prstDash val="solid"/>
          </a:ln>
        </p:spPr>
      </p:sp>
      <p:sp>
        <p:nvSpPr>
          <p:cNvPr id="8" name="Number 205"/>
          <p:cNvSpPr/>
          <p:nvPr/>
        </p:nvSpPr>
        <p:spPr>
          <a:xfrm>
            <a:off x="4535424" y="1737360"/>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206"/>
          <p:cNvSpPr txBox="1"/>
          <p:nvPr/>
        </p:nvSpPr>
        <p:spPr>
          <a:xfrm>
            <a:off x="4535424" y="2286000"/>
            <a:ext cx="3108960" cy="384048"/>
          </a:xfrm>
          <a:prstGeom prst="rect">
            <a:avLst/>
          </a:prstGeom>
          <a:noFill/>
          <a:ln/>
        </p:spPr>
        <p:txBody>
          <a:bodyPr wrap="square" lIns="0" tIns="0" rIns="0" bIns="0" rtlCol="0" anchor="t"/>
          <a:lstStyle/>
          <a:p>
            <a:pPr algn="l" indent="0" marL="0">
              <a:buNone/>
            </a:pPr>
            <a:r>
              <a:rPr lang="en-US" sz="1900" b="1" dirty="0">
                <a:solidFill>
                  <a:schemeClr val="tx1"/>
                </a:solidFill>
              </a:rPr>
              <a:t>One writer per store</a:t>
            </a:r>
            <a:endParaRPr lang="en-US" sz="1900" dirty="0"/>
          </a:p>
        </p:txBody>
      </p:sp>
      <p:sp>
        <p:nvSpPr>
          <p:cNvPr id="10" name="Text 207"/>
          <p:cNvSpPr txBox="1"/>
          <p:nvPr/>
        </p:nvSpPr>
        <p:spPr>
          <a:xfrm>
            <a:off x="4535424" y="2715768"/>
            <a:ext cx="3108960" cy="868680"/>
          </a:xfrm>
          <a:prstGeom prst="rect">
            <a:avLst/>
          </a:prstGeom>
          <a:noFill/>
          <a:ln/>
        </p:spPr>
        <p:txBody>
          <a:bodyPr wrap="square" lIns="0" tIns="0" rIns="0" bIns="0" rtlCol="0" anchor="t"/>
          <a:lstStyle/>
          <a:p>
            <a:pPr algn="l" indent="0" marL="0">
              <a:buNone/>
            </a:pPr>
            <a:r>
              <a:rPr lang="en-US" sz="1400" dirty="0">
                <a:solidFill>
                  <a:schemeClr val="tx2"/>
                </a:solidFill>
              </a:rPr>
              <a:t>Each repository has a single writer. A derived view never writes back to its source.</a:t>
            </a:r>
            <a:endParaRPr lang="en-US" sz="1400" dirty="0"/>
          </a:p>
        </p:txBody>
      </p:sp>
      <p:sp>
        <p:nvSpPr>
          <p:cNvPr id="11" name="Card 208"/>
          <p:cNvSpPr/>
          <p:nvPr/>
        </p:nvSpPr>
        <p:spPr>
          <a:xfrm>
            <a:off x="8065008" y="1508760"/>
            <a:ext cx="3566160" cy="2148840"/>
          </a:xfrm>
          <a:prstGeom prst="roundRect">
            <a:avLst>
              <a:gd name="adj" fmla="val 3404"/>
            </a:avLst>
          </a:prstGeom>
          <a:solidFill>
            <a:schemeClr val="bg2"/>
          </a:solidFill>
          <a:ln w="6350">
            <a:solidFill>
              <a:schemeClr val="bg2"/>
            </a:solidFill>
            <a:prstDash val="solid"/>
          </a:ln>
        </p:spPr>
      </p:sp>
      <p:sp>
        <p:nvSpPr>
          <p:cNvPr id="12" name="Number 209"/>
          <p:cNvSpPr/>
          <p:nvPr/>
        </p:nvSpPr>
        <p:spPr>
          <a:xfrm>
            <a:off x="8293608" y="1737360"/>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210"/>
          <p:cNvSpPr txBox="1"/>
          <p:nvPr/>
        </p:nvSpPr>
        <p:spPr>
          <a:xfrm>
            <a:off x="8293608" y="2286000"/>
            <a:ext cx="3108960" cy="384048"/>
          </a:xfrm>
          <a:prstGeom prst="rect">
            <a:avLst/>
          </a:prstGeom>
          <a:noFill/>
          <a:ln/>
        </p:spPr>
        <p:txBody>
          <a:bodyPr wrap="square" lIns="0" tIns="0" rIns="0" bIns="0" rtlCol="0" anchor="t"/>
          <a:lstStyle/>
          <a:p>
            <a:pPr algn="l" indent="0" marL="0">
              <a:buNone/>
            </a:pPr>
            <a:r>
              <a:rPr lang="en-US" sz="1900" b="1" dirty="0">
                <a:solidFill>
                  <a:schemeClr val="tx1"/>
                </a:solidFill>
              </a:rPr>
              <a:t>Act, then log</a:t>
            </a:r>
            <a:endParaRPr lang="en-US" sz="1900" dirty="0"/>
          </a:p>
        </p:txBody>
      </p:sp>
      <p:sp>
        <p:nvSpPr>
          <p:cNvPr id="14" name="Text 211"/>
          <p:cNvSpPr txBox="1"/>
          <p:nvPr/>
        </p:nvSpPr>
        <p:spPr>
          <a:xfrm>
            <a:off x="8293608" y="2715768"/>
            <a:ext cx="3108960" cy="868680"/>
          </a:xfrm>
          <a:prstGeom prst="rect">
            <a:avLst/>
          </a:prstGeom>
          <a:noFill/>
          <a:ln/>
        </p:spPr>
        <p:txBody>
          <a:bodyPr wrap="square" lIns="0" tIns="0" rIns="0" bIns="0" rtlCol="0" anchor="t"/>
          <a:lstStyle/>
          <a:p>
            <a:pPr algn="l" indent="0" marL="0">
              <a:buNone/>
            </a:pPr>
            <a:r>
              <a:rPr lang="en-US" sz="1400" dirty="0">
                <a:solidFill>
                  <a:schemeClr val="tx2"/>
                </a:solidFill>
              </a:rPr>
              <a:t>Everything is in git, so a wrong call is a revert, not a clean-up.</a:t>
            </a:r>
            <a:endParaRPr lang="en-US" sz="1400" dirty="0"/>
          </a:p>
        </p:txBody>
      </p:sp>
      <p:sp>
        <p:nvSpPr>
          <p:cNvPr id="15" name="Card 212"/>
          <p:cNvSpPr/>
          <p:nvPr/>
        </p:nvSpPr>
        <p:spPr>
          <a:xfrm>
            <a:off x="548640" y="3849624"/>
            <a:ext cx="3566160" cy="2148840"/>
          </a:xfrm>
          <a:prstGeom prst="roundRect">
            <a:avLst>
              <a:gd name="adj" fmla="val 3404"/>
            </a:avLst>
          </a:prstGeom>
          <a:solidFill>
            <a:schemeClr val="bg2"/>
          </a:solidFill>
          <a:ln w="6350">
            <a:solidFill>
              <a:schemeClr val="bg2"/>
            </a:solidFill>
            <a:prstDash val="solid"/>
          </a:ln>
        </p:spPr>
      </p:sp>
      <p:sp>
        <p:nvSpPr>
          <p:cNvPr id="16" name="Number 213"/>
          <p:cNvSpPr/>
          <p:nvPr/>
        </p:nvSpPr>
        <p:spPr>
          <a:xfrm>
            <a:off x="777240" y="4078224"/>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Text 214"/>
          <p:cNvSpPr txBox="1"/>
          <p:nvPr/>
        </p:nvSpPr>
        <p:spPr>
          <a:xfrm>
            <a:off x="777240" y="4626864"/>
            <a:ext cx="3108960" cy="384048"/>
          </a:xfrm>
          <a:prstGeom prst="rect">
            <a:avLst/>
          </a:prstGeom>
          <a:noFill/>
          <a:ln/>
        </p:spPr>
        <p:txBody>
          <a:bodyPr wrap="square" lIns="0" tIns="0" rIns="0" bIns="0" rtlCol="0" anchor="t"/>
          <a:lstStyle/>
          <a:p>
            <a:pPr algn="l" indent="0" marL="0">
              <a:buNone/>
            </a:pPr>
            <a:r>
              <a:rPr lang="en-US" sz="1900" b="1" dirty="0">
                <a:solidFill>
                  <a:schemeClr val="tx1"/>
                </a:solidFill>
              </a:rPr>
              <a:t>Primary sources only</a:t>
            </a:r>
            <a:endParaRPr lang="en-US" sz="1900" dirty="0"/>
          </a:p>
        </p:txBody>
      </p:sp>
      <p:sp>
        <p:nvSpPr>
          <p:cNvPr id="18" name="Text 215"/>
          <p:cNvSpPr txBox="1"/>
          <p:nvPr/>
        </p:nvSpPr>
        <p:spPr>
          <a:xfrm>
            <a:off x="777240" y="5056632"/>
            <a:ext cx="3108960" cy="868680"/>
          </a:xfrm>
          <a:prstGeom prst="rect">
            <a:avLst/>
          </a:prstGeom>
          <a:noFill/>
          <a:ln/>
        </p:spPr>
        <p:txBody>
          <a:bodyPr wrap="square" lIns="0" tIns="0" rIns="0" bIns="0" rtlCol="0" anchor="t"/>
          <a:lstStyle/>
          <a:p>
            <a:pPr algn="l" indent="0" marL="0">
              <a:buNone/>
            </a:pPr>
            <a:r>
              <a:rPr lang="en-US" sz="1400" dirty="0">
                <a:solidFill>
                  <a:schemeClr val="tx2"/>
                </a:solidFill>
              </a:rPr>
              <a:t>AI summaries and news digests are mined for the documents they cite, then discarded.</a:t>
            </a:r>
            <a:endParaRPr lang="en-US" sz="1400" dirty="0"/>
          </a:p>
        </p:txBody>
      </p:sp>
      <p:sp>
        <p:nvSpPr>
          <p:cNvPr id="19" name="Card 216"/>
          <p:cNvSpPr/>
          <p:nvPr/>
        </p:nvSpPr>
        <p:spPr>
          <a:xfrm>
            <a:off x="4306824" y="3849624"/>
            <a:ext cx="3566160" cy="2148840"/>
          </a:xfrm>
          <a:prstGeom prst="roundRect">
            <a:avLst>
              <a:gd name="adj" fmla="val 3404"/>
            </a:avLst>
          </a:prstGeom>
          <a:solidFill>
            <a:schemeClr val="bg2"/>
          </a:solidFill>
          <a:ln w="6350">
            <a:solidFill>
              <a:schemeClr val="bg2"/>
            </a:solidFill>
            <a:prstDash val="solid"/>
          </a:ln>
        </p:spPr>
      </p:sp>
      <p:sp>
        <p:nvSpPr>
          <p:cNvPr id="20" name="Number 217"/>
          <p:cNvSpPr/>
          <p:nvPr/>
        </p:nvSpPr>
        <p:spPr>
          <a:xfrm>
            <a:off x="4535424" y="4078224"/>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1" name="Text 218"/>
          <p:cNvSpPr txBox="1"/>
          <p:nvPr/>
        </p:nvSpPr>
        <p:spPr>
          <a:xfrm>
            <a:off x="4535424" y="4626864"/>
            <a:ext cx="3108960" cy="384048"/>
          </a:xfrm>
          <a:prstGeom prst="rect">
            <a:avLst/>
          </a:prstGeom>
          <a:noFill/>
          <a:ln/>
        </p:spPr>
        <p:txBody>
          <a:bodyPr wrap="square" lIns="0" tIns="0" rIns="0" bIns="0" rtlCol="0" anchor="t"/>
          <a:lstStyle/>
          <a:p>
            <a:pPr algn="l" indent="0" marL="0">
              <a:buNone/>
            </a:pPr>
            <a:r>
              <a:rPr lang="en-US" sz="1900" b="1" dirty="0">
                <a:solidFill>
                  <a:schemeClr val="tx1"/>
                </a:solidFill>
              </a:rPr>
              <a:t>State the gaps</a:t>
            </a:r>
            <a:endParaRPr lang="en-US" sz="1900" dirty="0"/>
          </a:p>
        </p:txBody>
      </p:sp>
      <p:sp>
        <p:nvSpPr>
          <p:cNvPr id="22" name="Text 219"/>
          <p:cNvSpPr txBox="1"/>
          <p:nvPr/>
        </p:nvSpPr>
        <p:spPr>
          <a:xfrm>
            <a:off x="4535424" y="5056632"/>
            <a:ext cx="3108960" cy="868680"/>
          </a:xfrm>
          <a:prstGeom prst="rect">
            <a:avLst/>
          </a:prstGeom>
          <a:noFill/>
          <a:ln/>
        </p:spPr>
        <p:txBody>
          <a:bodyPr wrap="square" lIns="0" tIns="0" rIns="0" bIns="0" rtlCol="0" anchor="t"/>
          <a:lstStyle/>
          <a:p>
            <a:pPr algn="l" indent="0" marL="0">
              <a:buNone/>
            </a:pPr>
            <a:r>
              <a:rPr lang="en-US" sz="1400" dirty="0">
                <a:solidFill>
                  <a:schemeClr val="tx2"/>
                </a:solidFill>
              </a:rPr>
              <a:t>Where a fact is not established, the page says so, with a date. Nothing is filled in.</a:t>
            </a:r>
            <a:endParaRPr lang="en-US" sz="1400" dirty="0"/>
          </a:p>
        </p:txBody>
      </p:sp>
      <p:sp>
        <p:nvSpPr>
          <p:cNvPr id="23" name="Card 220"/>
          <p:cNvSpPr/>
          <p:nvPr/>
        </p:nvSpPr>
        <p:spPr>
          <a:xfrm>
            <a:off x="8065008" y="3849624"/>
            <a:ext cx="3566160" cy="2148840"/>
          </a:xfrm>
          <a:prstGeom prst="roundRect">
            <a:avLst>
              <a:gd name="adj" fmla="val 3404"/>
            </a:avLst>
          </a:prstGeom>
          <a:solidFill>
            <a:schemeClr val="bg2"/>
          </a:solidFill>
          <a:ln w="6350">
            <a:solidFill>
              <a:schemeClr val="bg2"/>
            </a:solidFill>
            <a:prstDash val="solid"/>
          </a:ln>
        </p:spPr>
      </p:sp>
      <p:sp>
        <p:nvSpPr>
          <p:cNvPr id="24" name="Number 221"/>
          <p:cNvSpPr/>
          <p:nvPr/>
        </p:nvSpPr>
        <p:spPr>
          <a:xfrm>
            <a:off x="8293608" y="4078224"/>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5" name="Text 222"/>
          <p:cNvSpPr txBox="1"/>
          <p:nvPr/>
        </p:nvSpPr>
        <p:spPr>
          <a:xfrm>
            <a:off x="8293608" y="4626864"/>
            <a:ext cx="3108960" cy="384048"/>
          </a:xfrm>
          <a:prstGeom prst="rect">
            <a:avLst/>
          </a:prstGeom>
          <a:noFill/>
          <a:ln/>
        </p:spPr>
        <p:txBody>
          <a:bodyPr wrap="square" lIns="0" tIns="0" rIns="0" bIns="0" rtlCol="0" anchor="t"/>
          <a:lstStyle/>
          <a:p>
            <a:pPr algn="l" indent="0" marL="0">
              <a:buNone/>
            </a:pPr>
            <a:r>
              <a:rPr lang="en-US" sz="1900" b="1" dirty="0">
                <a:solidFill>
                  <a:schemeClr val="tx1"/>
                </a:solidFill>
              </a:rPr>
              <a:t>Depth on demand</a:t>
            </a:r>
            <a:endParaRPr lang="en-US" sz="1900" dirty="0"/>
          </a:p>
        </p:txBody>
      </p:sp>
      <p:sp>
        <p:nvSpPr>
          <p:cNvPr id="26" name="Text 223"/>
          <p:cNvSpPr txBox="1"/>
          <p:nvPr/>
        </p:nvSpPr>
        <p:spPr>
          <a:xfrm>
            <a:off x="8293608" y="5056632"/>
            <a:ext cx="3108960" cy="868680"/>
          </a:xfrm>
          <a:prstGeom prst="rect">
            <a:avLst/>
          </a:prstGeom>
          <a:noFill/>
          <a:ln/>
        </p:spPr>
        <p:txBody>
          <a:bodyPr wrap="square" lIns="0" tIns="0" rIns="0" bIns="0" rtlCol="0" anchor="t"/>
          <a:lstStyle/>
          <a:p>
            <a:pPr algn="l" indent="0" marL="0">
              <a:buNone/>
            </a:pPr>
            <a:r>
              <a:rPr lang="en-US" sz="1400" dirty="0">
                <a:solidFill>
                  <a:schemeClr val="tx2"/>
                </a:solidFill>
              </a:rPr>
              <a:t>Deep where there is active work, thin elsewhere. Even coverage is not the aim.</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Where it goes next</a:t>
            </a:r>
            <a:endParaRPr lang="en-US" sz="3400" dirty="0"/>
          </a:p>
        </p:txBody>
      </p:sp>
      <p:sp>
        <p:nvSpPr>
          <p:cNvPr id="3" name="Card 224"/>
          <p:cNvSpPr/>
          <p:nvPr/>
        </p:nvSpPr>
        <p:spPr>
          <a:xfrm>
            <a:off x="548640" y="1508760"/>
            <a:ext cx="4846320" cy="4114800"/>
          </a:xfrm>
          <a:prstGeom prst="roundRect">
            <a:avLst>
              <a:gd name="adj" fmla="val 1778"/>
            </a:avLst>
          </a:prstGeom>
          <a:solidFill>
            <a:schemeClr val="tx1"/>
          </a:solidFill>
          <a:ln w="6350">
            <a:solidFill>
              <a:schemeClr val="tx1"/>
            </a:solidFill>
            <a:prstDash val="solid"/>
          </a:ln>
        </p:spPr>
      </p:sp>
      <p:sp>
        <p:nvSpPr>
          <p:cNvPr id="4" name="Text 225"/>
          <p:cNvSpPr txBox="1"/>
          <p:nvPr/>
        </p:nvSpPr>
        <p:spPr>
          <a:xfrm>
            <a:off x="868680" y="1737360"/>
            <a:ext cx="4206240" cy="237744"/>
          </a:xfrm>
          <a:prstGeom prst="rect">
            <a:avLst/>
          </a:prstGeom>
          <a:noFill/>
          <a:ln/>
        </p:spPr>
        <p:txBody>
          <a:bodyPr wrap="square" lIns="0" tIns="0" rIns="0" bIns="0" rtlCol="0" anchor="t"/>
          <a:lstStyle/>
          <a:p>
            <a:pPr algn="l" indent="0" marL="0">
              <a:buNone/>
            </a:pPr>
            <a:r>
              <a:rPr lang="en-US" sz="1100" b="1" spc="150" kern="0" dirty="0">
                <a:solidFill>
                  <a:schemeClr val="accent4"/>
                </a:solidFill>
              </a:rPr>
              <a:t>GROWTH</a:t>
            </a:r>
            <a:endParaRPr lang="en-US" sz="1100" dirty="0"/>
          </a:p>
        </p:txBody>
      </p:sp>
      <p:sp>
        <p:nvSpPr>
          <p:cNvPr id="5" name="Text 226"/>
          <p:cNvSpPr txBox="1"/>
          <p:nvPr/>
        </p:nvSpPr>
        <p:spPr>
          <a:xfrm>
            <a:off x="868680" y="2103120"/>
            <a:ext cx="4206240" cy="640080"/>
          </a:xfrm>
          <a:prstGeom prst="rect">
            <a:avLst/>
          </a:prstGeom>
          <a:noFill/>
          <a:ln/>
        </p:spPr>
        <p:txBody>
          <a:bodyPr wrap="square" lIns="0" tIns="0" rIns="0" bIns="0" rtlCol="0" anchor="ctr"/>
          <a:lstStyle/>
          <a:p>
            <a:pPr algn="l" indent="0" marL="0">
              <a:buNone/>
            </a:pPr>
            <a:r>
              <a:rPr lang="en-US" sz="4000" b="1" dirty="0">
                <a:solidFill>
                  <a:schemeClr val="bg1"/>
                </a:solidFill>
              </a:rPr>
              <a:t>73</a:t>
            </a:r>
            <a:endParaRPr lang="en-US" sz="4000" dirty="0"/>
          </a:p>
        </p:txBody>
      </p:sp>
      <p:sp>
        <p:nvSpPr>
          <p:cNvPr id="6" name="Text 227"/>
          <p:cNvSpPr txBox="1"/>
          <p:nvPr/>
        </p:nvSpPr>
        <p:spPr>
          <a:xfrm>
            <a:off x="868680" y="2761488"/>
            <a:ext cx="4206240" cy="292608"/>
          </a:xfrm>
          <a:prstGeom prst="rect">
            <a:avLst/>
          </a:prstGeom>
          <a:noFill/>
          <a:ln/>
        </p:spPr>
        <p:txBody>
          <a:bodyPr wrap="square" lIns="0" tIns="0" rIns="0" bIns="0" rtlCol="0" anchor="t"/>
          <a:lstStyle/>
          <a:p>
            <a:pPr algn="l" indent="0" marL="0">
              <a:buNone/>
            </a:pPr>
            <a:r>
              <a:rPr lang="en-US" sz="1400" dirty="0">
                <a:solidFill>
                  <a:schemeClr val="accent6"/>
                </a:solidFill>
              </a:rPr>
              <a:t>new sources admitted a night</a:t>
            </a:r>
            <a:endParaRPr lang="en-US" sz="1400" dirty="0"/>
          </a:p>
        </p:txBody>
      </p:sp>
      <p:sp>
        <p:nvSpPr>
          <p:cNvPr id="7" name="Text 228"/>
          <p:cNvSpPr txBox="1"/>
          <p:nvPr/>
        </p:nvSpPr>
        <p:spPr>
          <a:xfrm>
            <a:off x="868680" y="3246120"/>
            <a:ext cx="4206240" cy="640080"/>
          </a:xfrm>
          <a:prstGeom prst="rect">
            <a:avLst/>
          </a:prstGeom>
          <a:noFill/>
          <a:ln/>
        </p:spPr>
        <p:txBody>
          <a:bodyPr wrap="square" lIns="0" tIns="0" rIns="0" bIns="0" rtlCol="0" anchor="ctr"/>
          <a:lstStyle/>
          <a:p>
            <a:pPr algn="l" indent="0" marL="0">
              <a:buNone/>
            </a:pPr>
            <a:r>
              <a:rPr lang="en-US" sz="4000" b="1" dirty="0">
                <a:solidFill>
                  <a:schemeClr val="bg1"/>
                </a:solidFill>
              </a:rPr>
              <a:t>52,000</a:t>
            </a:r>
            <a:endParaRPr lang="en-US" sz="4000" dirty="0"/>
          </a:p>
        </p:txBody>
      </p:sp>
      <p:sp>
        <p:nvSpPr>
          <p:cNvPr id="8" name="Text 229"/>
          <p:cNvSpPr txBox="1"/>
          <p:nvPr/>
        </p:nvSpPr>
        <p:spPr>
          <a:xfrm>
            <a:off x="868680" y="3904488"/>
            <a:ext cx="4206240" cy="292608"/>
          </a:xfrm>
          <a:prstGeom prst="rect">
            <a:avLst/>
          </a:prstGeom>
          <a:noFill/>
          <a:ln/>
        </p:spPr>
        <p:txBody>
          <a:bodyPr wrap="square" lIns="0" tIns="0" rIns="0" bIns="0" rtlCol="0" anchor="t"/>
          <a:lstStyle/>
          <a:p>
            <a:pPr algn="l" indent="0" marL="0">
              <a:buNone/>
            </a:pPr>
            <a:r>
              <a:rPr lang="en-US" sz="1400" dirty="0">
                <a:solidFill>
                  <a:schemeClr val="accent6"/>
                </a:solidFill>
              </a:rPr>
              <a:t>sources held in a year, at this rate</a:t>
            </a:r>
            <a:endParaRPr lang="en-US" sz="1400" dirty="0"/>
          </a:p>
        </p:txBody>
      </p:sp>
      <p:sp>
        <p:nvSpPr>
          <p:cNvPr id="9" name="Text 230"/>
          <p:cNvSpPr txBox="1"/>
          <p:nvPr/>
        </p:nvSpPr>
        <p:spPr>
          <a:xfrm>
            <a:off x="868680" y="4389120"/>
            <a:ext cx="4206240" cy="640080"/>
          </a:xfrm>
          <a:prstGeom prst="rect">
            <a:avLst/>
          </a:prstGeom>
          <a:noFill/>
          <a:ln/>
        </p:spPr>
        <p:txBody>
          <a:bodyPr wrap="square" lIns="0" tIns="0" rIns="0" bIns="0" rtlCol="0" anchor="ctr"/>
          <a:lstStyle/>
          <a:p>
            <a:pPr algn="l" indent="0" marL="0">
              <a:buNone/>
            </a:pPr>
            <a:r>
              <a:rPr lang="en-US" sz="4000" b="1" dirty="0">
                <a:solidFill>
                  <a:schemeClr val="bg1"/>
                </a:solidFill>
              </a:rPr>
              <a:t>0</a:t>
            </a:r>
            <a:endParaRPr lang="en-US" sz="4000" dirty="0"/>
          </a:p>
        </p:txBody>
      </p:sp>
      <p:sp>
        <p:nvSpPr>
          <p:cNvPr id="10" name="Text 231"/>
          <p:cNvSpPr txBox="1"/>
          <p:nvPr/>
        </p:nvSpPr>
        <p:spPr>
          <a:xfrm>
            <a:off x="868680" y="5047488"/>
            <a:ext cx="4206240" cy="292608"/>
          </a:xfrm>
          <a:prstGeom prst="rect">
            <a:avLst/>
          </a:prstGeom>
          <a:noFill/>
          <a:ln/>
        </p:spPr>
        <p:txBody>
          <a:bodyPr wrap="square" lIns="0" tIns="0" rIns="0" bIns="0" rtlCol="0" anchor="t"/>
          <a:lstStyle/>
          <a:p>
            <a:pPr algn="l" indent="0" marL="0">
              <a:buNone/>
            </a:pPr>
            <a:r>
              <a:rPr lang="en-US" sz="1400" dirty="0">
                <a:solidFill>
                  <a:schemeClr val="accent6"/>
                </a:solidFill>
              </a:rPr>
              <a:t>new databases needed: files and git hold</a:t>
            </a:r>
            <a:endParaRPr lang="en-US" sz="1400" dirty="0"/>
          </a:p>
        </p:txBody>
      </p:sp>
      <p:sp>
        <p:nvSpPr>
          <p:cNvPr id="11" name="Text 232"/>
          <p:cNvSpPr txBox="1"/>
          <p:nvPr/>
        </p:nvSpPr>
        <p:spPr>
          <a:xfrm>
            <a:off x="5852160" y="1508760"/>
            <a:ext cx="5788152" cy="411480"/>
          </a:xfrm>
          <a:prstGeom prst="rect">
            <a:avLst/>
          </a:prstGeom>
          <a:noFill/>
          <a:ln/>
        </p:spPr>
        <p:txBody>
          <a:bodyPr wrap="square" lIns="0" tIns="0" rIns="0" bIns="0" rtlCol="0" anchor="t"/>
          <a:lstStyle/>
          <a:p>
            <a:pPr algn="l" indent="0" marL="0">
              <a:buNone/>
            </a:pPr>
            <a:r>
              <a:rPr lang="en-US" sz="2200" b="1" dirty="0">
                <a:solidFill>
                  <a:schemeClr val="tx1"/>
                </a:solidFill>
              </a:rPr>
              <a:t>What comes next</a:t>
            </a:r>
            <a:endParaRPr lang="en-US" sz="2200" dirty="0"/>
          </a:p>
        </p:txBody>
      </p:sp>
      <p:sp>
        <p:nvSpPr>
          <p:cNvPr id="12" name="Number 233"/>
          <p:cNvSpPr/>
          <p:nvPr/>
        </p:nvSpPr>
        <p:spPr>
          <a:xfrm>
            <a:off x="5852160" y="2240280"/>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3" name="Text 234"/>
          <p:cNvSpPr txBox="1"/>
          <p:nvPr/>
        </p:nvSpPr>
        <p:spPr>
          <a:xfrm>
            <a:off x="6446520" y="2194560"/>
            <a:ext cx="5193792" cy="365760"/>
          </a:xfrm>
          <a:prstGeom prst="rect">
            <a:avLst/>
          </a:prstGeom>
          <a:noFill/>
          <a:ln/>
        </p:spPr>
        <p:txBody>
          <a:bodyPr wrap="square" lIns="0" tIns="0" rIns="0" bIns="0" rtlCol="0" anchor="t"/>
          <a:lstStyle/>
          <a:p>
            <a:pPr algn="l" indent="0" marL="0">
              <a:buNone/>
            </a:pPr>
            <a:r>
              <a:rPr lang="en-US" sz="1800" b="1" dirty="0">
                <a:solidFill>
                  <a:schemeClr val="tx1"/>
                </a:solidFill>
              </a:rPr>
              <a:t>Start the night automatically</a:t>
            </a:r>
            <a:endParaRPr lang="en-US" sz="1800" dirty="0"/>
          </a:p>
        </p:txBody>
      </p:sp>
      <p:sp>
        <p:nvSpPr>
          <p:cNvPr id="14" name="Text 235"/>
          <p:cNvSpPr txBox="1"/>
          <p:nvPr/>
        </p:nvSpPr>
        <p:spPr>
          <a:xfrm>
            <a:off x="6446520" y="2596896"/>
            <a:ext cx="5193792" cy="502920"/>
          </a:xfrm>
          <a:prstGeom prst="rect">
            <a:avLst/>
          </a:prstGeom>
          <a:noFill/>
          <a:ln/>
        </p:spPr>
        <p:txBody>
          <a:bodyPr wrap="square" lIns="0" tIns="0" rIns="0" bIns="0" rtlCol="0" anchor="t"/>
          <a:lstStyle/>
          <a:p>
            <a:pPr algn="l" indent="0" marL="0">
              <a:buNone/>
            </a:pPr>
            <a:r>
              <a:rPr lang="en-US" sz="1400" dirty="0">
                <a:solidFill>
                  <a:schemeClr val="tx2"/>
                </a:solidFill>
              </a:rPr>
              <a:t>The collection cycle is still started by hand.</a:t>
            </a:r>
            <a:endParaRPr lang="en-US" sz="1400" dirty="0"/>
          </a:p>
        </p:txBody>
      </p:sp>
      <p:sp>
        <p:nvSpPr>
          <p:cNvPr id="15" name="Number 236"/>
          <p:cNvSpPr/>
          <p:nvPr/>
        </p:nvSpPr>
        <p:spPr>
          <a:xfrm>
            <a:off x="5852160" y="3355848"/>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6" name="Text 237"/>
          <p:cNvSpPr txBox="1"/>
          <p:nvPr/>
        </p:nvSpPr>
        <p:spPr>
          <a:xfrm>
            <a:off x="6446520" y="3310128"/>
            <a:ext cx="5193792" cy="365760"/>
          </a:xfrm>
          <a:prstGeom prst="rect">
            <a:avLst/>
          </a:prstGeom>
          <a:noFill/>
          <a:ln/>
        </p:spPr>
        <p:txBody>
          <a:bodyPr wrap="square" lIns="0" tIns="0" rIns="0" bIns="0" rtlCol="0" anchor="t"/>
          <a:lstStyle/>
          <a:p>
            <a:pPr algn="l" indent="0" marL="0">
              <a:buNone/>
            </a:pPr>
            <a:r>
              <a:rPr lang="en-US" sz="1800" b="1" dirty="0">
                <a:solidFill>
                  <a:schemeClr val="tx1"/>
                </a:solidFill>
              </a:rPr>
              <a:t>Deepen the budget dataset</a:t>
            </a:r>
            <a:endParaRPr lang="en-US" sz="1800" dirty="0"/>
          </a:p>
        </p:txBody>
      </p:sp>
      <p:sp>
        <p:nvSpPr>
          <p:cNvPr id="17" name="Text 238"/>
          <p:cNvSpPr txBox="1"/>
          <p:nvPr/>
        </p:nvSpPr>
        <p:spPr>
          <a:xfrm>
            <a:off x="6446520" y="3712464"/>
            <a:ext cx="5193792" cy="502920"/>
          </a:xfrm>
          <a:prstGeom prst="rect">
            <a:avLst/>
          </a:prstGeom>
          <a:noFill/>
          <a:ln/>
        </p:spPr>
        <p:txBody>
          <a:bodyPr wrap="square" lIns="0" tIns="0" rIns="0" bIns="0" rtlCol="0" anchor="t"/>
          <a:lstStyle/>
          <a:p>
            <a:pPr algn="l" indent="0" marL="0">
              <a:buNone/>
            </a:pPr>
            <a:r>
              <a:rPr lang="en-US" sz="1400" dirty="0">
                <a:solidFill>
                  <a:schemeClr val="tx2"/>
                </a:solidFill>
              </a:rPr>
              <a:t>52 countries so far, followed from proposal through to audit.</a:t>
            </a:r>
            <a:endParaRPr lang="en-US" sz="1400" dirty="0"/>
          </a:p>
        </p:txBody>
      </p:sp>
      <p:sp>
        <p:nvSpPr>
          <p:cNvPr id="18" name="Number 239"/>
          <p:cNvSpPr/>
          <p:nvPr/>
        </p:nvSpPr>
        <p:spPr>
          <a:xfrm>
            <a:off x="5852160" y="4471416"/>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9" name="Text 240"/>
          <p:cNvSpPr txBox="1"/>
          <p:nvPr/>
        </p:nvSpPr>
        <p:spPr>
          <a:xfrm>
            <a:off x="6446520" y="4425696"/>
            <a:ext cx="5193792" cy="365760"/>
          </a:xfrm>
          <a:prstGeom prst="rect">
            <a:avLst/>
          </a:prstGeom>
          <a:noFill/>
          <a:ln/>
        </p:spPr>
        <p:txBody>
          <a:bodyPr wrap="square" lIns="0" tIns="0" rIns="0" bIns="0" rtlCol="0" anchor="t"/>
          <a:lstStyle/>
          <a:p>
            <a:pPr algn="l" indent="0" marL="0">
              <a:buNone/>
            </a:pPr>
            <a:r>
              <a:rPr lang="en-US" sz="1800" b="1" dirty="0">
                <a:solidFill>
                  <a:schemeClr val="tx1"/>
                </a:solidFill>
              </a:rPr>
              <a:t>Faster tables for readers</a:t>
            </a:r>
            <a:endParaRPr lang="en-US" sz="1800" dirty="0"/>
          </a:p>
        </p:txBody>
      </p:sp>
      <p:sp>
        <p:nvSpPr>
          <p:cNvPr id="20" name="Text 241"/>
          <p:cNvSpPr txBox="1"/>
          <p:nvPr/>
        </p:nvSpPr>
        <p:spPr>
          <a:xfrm>
            <a:off x="6446520" y="4828032"/>
            <a:ext cx="5193792" cy="502920"/>
          </a:xfrm>
          <a:prstGeom prst="rect">
            <a:avLst/>
          </a:prstGeom>
          <a:noFill/>
          <a:ln/>
        </p:spPr>
        <p:txBody>
          <a:bodyPr wrap="square" lIns="0" tIns="0" rIns="0" bIns="0" rtlCol="0" anchor="t"/>
          <a:lstStyle/>
          <a:p>
            <a:pPr algn="l" indent="0" marL="0">
              <a:buNone/>
            </a:pPr>
            <a:r>
              <a:rPr lang="en-US" sz="1400" dirty="0">
                <a:solidFill>
                  <a:schemeClr val="tx2"/>
                </a:solidFill>
              </a:rPr>
              <a:t>The largest tables now run past 11,000 rows.</a:t>
            </a:r>
            <a:endParaRPr lang="en-US" sz="1400" dirty="0"/>
          </a:p>
        </p:txBody>
      </p:sp>
      <p:sp>
        <p:nvSpPr>
          <p:cNvPr id="21" name="Text 242"/>
          <p:cNvSpPr txBox="1"/>
          <p:nvPr/>
        </p:nvSpPr>
        <p:spPr>
          <a:xfrm>
            <a:off x="548640" y="5760720"/>
            <a:ext cx="11091672" cy="274320"/>
          </a:xfrm>
          <a:prstGeom prst="rect">
            <a:avLst/>
          </a:prstGeom>
          <a:noFill/>
          <a:ln/>
        </p:spPr>
        <p:txBody>
          <a:bodyPr wrap="square" lIns="0" tIns="0" rIns="0" bIns="0" rtlCol="0" anchor="t"/>
          <a:lstStyle/>
          <a:p>
            <a:pPr algn="l" indent="0" marL="0">
              <a:buNone/>
            </a:pPr>
            <a:r>
              <a:rPr lang="en-US" sz="1100" dirty="0">
                <a:solidFill>
                  <a:schemeClr val="accent5"/>
                </a:solidFill>
              </a:rPr>
              <a:t>Figures from strategic review 6, 1 October 2026.</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10058400" cy="1371600"/>
          </a:xfrm>
          <a:prstGeom prst="rect">
            <a:avLst/>
          </a:prstGeom>
          <a:noFill/>
          <a:ln/>
        </p:spPr>
        <p:txBody>
          <a:bodyPr wrap="square" lIns="0" tIns="0" rIns="0" bIns="0" rtlCol="0" anchor="t"/>
          <a:lstStyle/>
          <a:p>
            <a:pPr algn="l" indent="0" marL="0">
              <a:buNone/>
            </a:pPr>
            <a:r>
              <a:rPr lang="en-US" sz="4800" b="1" dirty="0">
                <a:solidFill>
                  <a:schemeClr val="bg1"/>
                </a:solidFill>
              </a:rPr>
              <a:t>Use it. Challenge it. Help deepen it.</a:t>
            </a:r>
            <a:endParaRPr lang="en-US" sz="4800" dirty="0"/>
          </a:p>
        </p:txBody>
      </p:sp>
      <p:sp>
        <p:nvSpPr>
          <p:cNvPr id="3" name="Text 243"/>
          <p:cNvSpPr txBox="1"/>
          <p:nvPr/>
        </p:nvSpPr>
        <p:spPr>
          <a:xfrm>
            <a:off x="548640" y="1600200"/>
            <a:ext cx="5486400" cy="237744"/>
          </a:xfrm>
          <a:prstGeom prst="rect">
            <a:avLst/>
          </a:prstGeom>
          <a:noFill/>
          <a:ln/>
        </p:spPr>
        <p:txBody>
          <a:bodyPr wrap="square" lIns="0" tIns="0" rIns="0" bIns="0" rtlCol="0" anchor="t"/>
          <a:lstStyle/>
          <a:p>
            <a:pPr algn="l" indent="0" marL="0">
              <a:buNone/>
            </a:pPr>
            <a:r>
              <a:rPr lang="en-US" sz="1400" b="1" spc="150" kern="0" dirty="0">
                <a:solidFill>
                  <a:schemeClr val="accent1"/>
                </a:solidFill>
              </a:rPr>
              <a:t>WORKING WITH US</a:t>
            </a:r>
            <a:endParaRPr lang="en-US" sz="1400" dirty="0"/>
          </a:p>
        </p:txBody>
      </p:sp>
      <p:sp>
        <p:nvSpPr>
          <p:cNvPr id="4" name="Number 244"/>
          <p:cNvSpPr/>
          <p:nvPr/>
        </p:nvSpPr>
        <p:spPr>
          <a:xfrm>
            <a:off x="548640" y="3429000"/>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245"/>
          <p:cNvSpPr txBox="1"/>
          <p:nvPr/>
        </p:nvSpPr>
        <p:spPr>
          <a:xfrm>
            <a:off x="548640" y="4023360"/>
            <a:ext cx="3474720" cy="411480"/>
          </a:xfrm>
          <a:prstGeom prst="rect">
            <a:avLst/>
          </a:prstGeom>
          <a:noFill/>
          <a:ln/>
        </p:spPr>
        <p:txBody>
          <a:bodyPr wrap="square" lIns="0" tIns="0" rIns="0" bIns="0" rtlCol="0" anchor="t"/>
          <a:lstStyle/>
          <a:p>
            <a:pPr algn="l" indent="0" marL="0">
              <a:buNone/>
            </a:pPr>
            <a:r>
              <a:rPr lang="en-US" sz="2000" b="1" dirty="0">
                <a:solidFill>
                  <a:schemeClr val="bg1"/>
                </a:solidFill>
              </a:rPr>
              <a:t>Use the reports and data</a:t>
            </a:r>
            <a:endParaRPr lang="en-US" sz="2000" dirty="0"/>
          </a:p>
        </p:txBody>
      </p:sp>
      <p:sp>
        <p:nvSpPr>
          <p:cNvPr id="6" name="Text 246"/>
          <p:cNvSpPr txBox="1"/>
          <p:nvPr/>
        </p:nvSpPr>
        <p:spPr>
          <a:xfrm>
            <a:off x="548640" y="4480560"/>
            <a:ext cx="3474720" cy="1005840"/>
          </a:xfrm>
          <a:prstGeom prst="rect">
            <a:avLst/>
          </a:prstGeom>
          <a:noFill/>
          <a:ln/>
        </p:spPr>
        <p:txBody>
          <a:bodyPr wrap="square" lIns="0" tIns="0" rIns="0" bIns="0" rtlCol="0" anchor="t"/>
          <a:lstStyle/>
          <a:p>
            <a:pPr algn="l" indent="0" marL="0">
              <a:buNone/>
            </a:pPr>
            <a:r>
              <a:rPr lang="en-US" sz="1500" dirty="0">
                <a:solidFill>
                  <a:schemeClr val="accent6"/>
                </a:solidFill>
              </a:rPr>
              <a:t>Everything is published under CC BY 4.0. Cite the dated edition you used.</a:t>
            </a:r>
            <a:endParaRPr lang="en-US" sz="1500" dirty="0"/>
          </a:p>
        </p:txBody>
      </p:sp>
      <p:sp>
        <p:nvSpPr>
          <p:cNvPr id="7" name="Number 247"/>
          <p:cNvSpPr/>
          <p:nvPr/>
        </p:nvSpPr>
        <p:spPr>
          <a:xfrm>
            <a:off x="4352544" y="3429000"/>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8" name="Text 248"/>
          <p:cNvSpPr txBox="1"/>
          <p:nvPr/>
        </p:nvSpPr>
        <p:spPr>
          <a:xfrm>
            <a:off x="4352544" y="4023360"/>
            <a:ext cx="3474720" cy="411480"/>
          </a:xfrm>
          <a:prstGeom prst="rect">
            <a:avLst/>
          </a:prstGeom>
          <a:noFill/>
          <a:ln/>
        </p:spPr>
        <p:txBody>
          <a:bodyPr wrap="square" lIns="0" tIns="0" rIns="0" bIns="0" rtlCol="0" anchor="t"/>
          <a:lstStyle/>
          <a:p>
            <a:pPr algn="l" indent="0" marL="0">
              <a:buNone/>
            </a:pPr>
            <a:r>
              <a:rPr lang="en-US" sz="2000" b="1" dirty="0">
                <a:solidFill>
                  <a:schemeClr val="bg1"/>
                </a:solidFill>
              </a:rPr>
              <a:t>Tell us what is wrong</a:t>
            </a:r>
            <a:endParaRPr lang="en-US" sz="2000" dirty="0"/>
          </a:p>
        </p:txBody>
      </p:sp>
      <p:sp>
        <p:nvSpPr>
          <p:cNvPr id="9" name="Text 249"/>
          <p:cNvSpPr txBox="1"/>
          <p:nvPr/>
        </p:nvSpPr>
        <p:spPr>
          <a:xfrm>
            <a:off x="4352544" y="4480560"/>
            <a:ext cx="3474720" cy="1005840"/>
          </a:xfrm>
          <a:prstGeom prst="rect">
            <a:avLst/>
          </a:prstGeom>
          <a:noFill/>
          <a:ln/>
        </p:spPr>
        <p:txBody>
          <a:bodyPr wrap="square" lIns="0" tIns="0" rIns="0" bIns="0" rtlCol="0" anchor="t"/>
          <a:lstStyle/>
          <a:p>
            <a:pPr algn="l" indent="0" marL="0">
              <a:buNone/>
            </a:pPr>
            <a:r>
              <a:rPr lang="en-US" sz="1500" dirty="0">
                <a:solidFill>
                  <a:schemeClr val="accent6"/>
                </a:solidFill>
              </a:rPr>
              <a:t>Every page has a feedback link. A wrong date or a misread law is the most useful thing to send.</a:t>
            </a:r>
            <a:endParaRPr lang="en-US" sz="1500" dirty="0"/>
          </a:p>
        </p:txBody>
      </p:sp>
      <p:sp>
        <p:nvSpPr>
          <p:cNvPr id="10" name="Number 250"/>
          <p:cNvSpPr/>
          <p:nvPr/>
        </p:nvSpPr>
        <p:spPr>
          <a:xfrm>
            <a:off x="8156448" y="3429000"/>
            <a:ext cx="402336" cy="402336"/>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1" name="Text 251"/>
          <p:cNvSpPr txBox="1"/>
          <p:nvPr/>
        </p:nvSpPr>
        <p:spPr>
          <a:xfrm>
            <a:off x="8156448" y="4023360"/>
            <a:ext cx="3474720" cy="411480"/>
          </a:xfrm>
          <a:prstGeom prst="rect">
            <a:avLst/>
          </a:prstGeom>
          <a:noFill/>
          <a:ln/>
        </p:spPr>
        <p:txBody>
          <a:bodyPr wrap="square" lIns="0" tIns="0" rIns="0" bIns="0" rtlCol="0" anchor="t"/>
          <a:lstStyle/>
          <a:p>
            <a:pPr algn="l" indent="0" marL="0">
              <a:buNone/>
            </a:pPr>
            <a:r>
              <a:rPr lang="en-US" sz="2000" b="1" dirty="0">
                <a:solidFill>
                  <a:schemeClr val="bg1"/>
                </a:solidFill>
              </a:rPr>
              <a:t>Point us at sources</a:t>
            </a:r>
            <a:endParaRPr lang="en-US" sz="2000" dirty="0"/>
          </a:p>
        </p:txBody>
      </p:sp>
      <p:sp>
        <p:nvSpPr>
          <p:cNvPr id="12" name="Text 252"/>
          <p:cNvSpPr txBox="1"/>
          <p:nvPr/>
        </p:nvSpPr>
        <p:spPr>
          <a:xfrm>
            <a:off x="8156448" y="4480560"/>
            <a:ext cx="3474720" cy="1005840"/>
          </a:xfrm>
          <a:prstGeom prst="rect">
            <a:avLst/>
          </a:prstGeom>
          <a:noFill/>
          <a:ln/>
        </p:spPr>
        <p:txBody>
          <a:bodyPr wrap="square" lIns="0" tIns="0" rIns="0" bIns="0" rtlCol="0" anchor="t"/>
          <a:lstStyle/>
          <a:p>
            <a:pPr algn="l" indent="0" marL="0">
              <a:buNone/>
            </a:pPr>
            <a:r>
              <a:rPr lang="en-US" sz="1500" dirty="0">
                <a:solidFill>
                  <a:schemeClr val="accent6"/>
                </a:solidFill>
              </a:rPr>
              <a:t>A newspaper, regulator, gazette or financier we do not yet sweep.</a:t>
            </a:r>
            <a:endParaRPr lang="en-US" sz="1500" dirty="0"/>
          </a:p>
        </p:txBody>
      </p:sp>
      <p:sp>
        <p:nvSpPr>
          <p:cNvPr id="13" name="Text 253"/>
          <p:cNvSpPr txBox="1"/>
          <p:nvPr/>
        </p:nvSpPr>
        <p:spPr>
          <a:xfrm>
            <a:off x="548640" y="5943600"/>
            <a:ext cx="11091672" cy="320040"/>
          </a:xfrm>
          <a:prstGeom prst="rect">
            <a:avLst/>
          </a:prstGeom>
          <a:noFill/>
          <a:ln/>
        </p:spPr>
        <p:txBody>
          <a:bodyPr wrap="square" lIns="0" tIns="0" rIns="0" bIns="0" rtlCol="0" anchor="t"/>
          <a:lstStyle/>
          <a:p>
            <a:pPr algn="l" indent="0" marL="0">
              <a:buNone/>
            </a:pPr>
            <a:r>
              <a:rPr lang="en-US" sz="1400" dirty="0">
                <a:solidFill>
                  <a:schemeClr val="accent5"/>
                </a:solidFill>
              </a:rPr>
              <a:t>corpus.data-landscapers.io   ·   data-landscapers.io   ·   info@data-landscapers.io</a:t>
            </a:r>
            <a:endParaRPr lang="en-US" sz="1400" dirty="0"/>
          </a:p>
        </p:txBody>
      </p:sp>
      <p:sp>
        <p:nvSpPr>
          <p:cNvPr id="15" name="Text 0"/>
          <p:cNvSpPr/>
          <p:nvPr>
            <p:ph idx="101" type="body" hasCustomPrompt="1"/>
          </p:nvPr>
        </p:nvSpPr>
        <p:spPr>
          <a:xfrm>
            <a:off x="548640" y="3657600"/>
            <a:ext cx="8778240" cy="118872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theme/theme1.xml><?xml version="1.0" encoding="utf-8"?>
<a:theme xmlns:a="http://schemas.openxmlformats.org/drawingml/2006/main" name="Data Landscapers">
  <a:themeElements>
    <a:clrScheme name="Data Landscapers">
      <a:dk1>
        <a:srgbClr val="1A1A18"/>
      </a:dk1>
      <a:lt1>
        <a:srgbClr val="FAF9F6"/>
      </a:lt1>
      <a:dk2>
        <a:srgbClr val="4A4A44"/>
      </a:dk2>
      <a:lt2>
        <a:srgbClr val="F0ECE2"/>
      </a:lt2>
      <a:accent1>
        <a:srgbClr val="C84B2F"/>
      </a:accent1>
      <a:accent2>
        <a:srgbClr val="9E3620"/>
      </a:accent2>
      <a:accent3>
        <a:srgbClr val="1A62A6"/>
      </a:accent3>
      <a:accent4>
        <a:srgbClr val="D8A23A"/>
      </a:accent4>
      <a:accent5>
        <a:srgbClr val="8A8A80"/>
      </a:accent5>
      <a:accent6>
        <a:srgbClr val="D8D5CC"/>
      </a:accent6>
      <a:hlink>
        <a:srgbClr val="1F5C8A"/>
      </a:hlink>
      <a:folHlink>
        <a:srgbClr val="9E3620"/>
      </a:folHlink>
    </a:clrScheme>
    <a:fontScheme name="Data Landscaper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Data Landscapers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the evidence base is built</dc:title>
  <dc:subject>PptxGenJS Presentation</dc:subject>
  <dc:creator>Data Landscapers</dc:creator>
  <cp:lastModifiedBy>Data Landscapers</cp:lastModifiedBy>
  <cp:revision>1</cp:revision>
  <dcterms:created xsi:type="dcterms:W3CDTF">2026-10-05T15:18:27Z</dcterms:created>
  <dcterms:modified xsi:type="dcterms:W3CDTF">2026-10-05T15:18:27Z</dcterms:modified>
</cp:coreProperties>
</file>